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_1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81" r:id="rId52"/>
    <p:sldId id="266" r:id="rId19"/>
    <p:sldId id="267" r:id="rId20"/>
    <p:sldId id="268" r:id="rId21"/>
    <p:sldId id="269" r:id="rId22"/>
    <p:sldId id="270" r:id="rId23"/>
    <p:sldId id="271" r:id="rId24"/>
    <p:sldId id="290" r:id="rId61"/>
    <p:sldId id="287" r:id="rId58"/>
    <p:sldId id="274" r:id="rId27"/>
    <p:sldId id="275" r:id="rId5"/>
    <p:sldId id="276" r:id="rId47"/>
    <p:sldId id="289" r:id="rId60"/>
    <p:sldId id="288" r:id="rId59"/>
    <p:sldId id="285" r:id="rId56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9.xml"/><Relationship Id="rId6" Type="http://schemas.openxmlformats.org/officeDocument/2006/relationships/notesMaster" Target="notesMasters/notesMaster1.xml"/><Relationship Id="rId7" Type="http://schemas.openxmlformats.org/officeDocument/2006/relationships/theme" Target="theme/theme2.xml"/><Relationship Id="rId8" Type="http://schemas.openxmlformats.org/officeDocument/2006/relationships/slideMaster" Target="slideMasters/slideMaster2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7" Type="http://schemas.openxmlformats.org/officeDocument/2006/relationships/slide" Target="slides/slide18.xml"/><Relationship Id="rId28" Type="http://schemas.openxmlformats.org/officeDocument/2006/relationships/notesSlide" Target="notesSlides/notesSlide1.xml"/><Relationship Id="rId29" Type="http://schemas.openxmlformats.org/officeDocument/2006/relationships/notesSlide" Target="notesSlides/notesSlide2.xml"/><Relationship Id="rId30" Type="http://schemas.openxmlformats.org/officeDocument/2006/relationships/notesSlide" Target="notesSlides/notesSlide3.xml"/><Relationship Id="rId31" Type="http://schemas.openxmlformats.org/officeDocument/2006/relationships/notesSlide" Target="notesSlides/notesSlide4.xml"/><Relationship Id="rId32" Type="http://schemas.openxmlformats.org/officeDocument/2006/relationships/notesSlide" Target="notesSlides/notesSlide5.xml"/><Relationship Id="rId33" Type="http://schemas.openxmlformats.org/officeDocument/2006/relationships/notesSlide" Target="notesSlides/notesSlide6.xml"/><Relationship Id="rId34" Type="http://schemas.openxmlformats.org/officeDocument/2006/relationships/notesSlide" Target="notesSlides/notesSlide7.xml"/><Relationship Id="rId35" Type="http://schemas.openxmlformats.org/officeDocument/2006/relationships/notesSlide" Target="notesSlides/notesSlide8.xml"/><Relationship Id="rId36" Type="http://schemas.openxmlformats.org/officeDocument/2006/relationships/notesSlide" Target="notesSlides/notesSlide9.xml"/><Relationship Id="rId37" Type="http://schemas.openxmlformats.org/officeDocument/2006/relationships/notesSlide" Target="notesSlides/notesSlide10.xml"/><Relationship Id="rId38" Type="http://schemas.openxmlformats.org/officeDocument/2006/relationships/notesSlide" Target="notesSlides/notesSlide11.xml"/><Relationship Id="rId39" Type="http://schemas.openxmlformats.org/officeDocument/2006/relationships/notesSlide" Target="notesSlides/notesSlide12.xml"/><Relationship Id="rId40" Type="http://schemas.openxmlformats.org/officeDocument/2006/relationships/notesSlide" Target="notesSlides/notesSlide13.xml"/><Relationship Id="rId41" Type="http://schemas.openxmlformats.org/officeDocument/2006/relationships/notesSlide" Target="notesSlides/notesSlide14.xml"/><Relationship Id="rId42" Type="http://schemas.openxmlformats.org/officeDocument/2006/relationships/notesSlide" Target="notesSlides/notesSlide15.xml"/><Relationship Id="rId43" Type="http://schemas.openxmlformats.org/officeDocument/2006/relationships/notesSlide" Target="notesSlides/notesSlide16.xml"/><Relationship Id="rId44" Type="http://schemas.openxmlformats.org/officeDocument/2006/relationships/notesSlide" Target="notesSlides/notesSlide17.xml"/><Relationship Id="rId45" Type="http://schemas.openxmlformats.org/officeDocument/2006/relationships/notesSlide" Target="notesSlides/notesSlide18.xml"/><Relationship Id="rId46" Type="http://schemas.openxmlformats.org/officeDocument/2006/relationships/notesSlide" Target="notesSlides/notesSlide19.xml"/><Relationship Id="rId47" Type="http://schemas.openxmlformats.org/officeDocument/2006/relationships/slide" Target="slides/slide20.xml"/><Relationship Id="rId52" Type="http://schemas.openxmlformats.org/officeDocument/2006/relationships/slide" Target="slides/slide9.xml"/><Relationship Id="rId56" Type="http://schemas.openxmlformats.org/officeDocument/2006/relationships/slide" Target="slides/slide23.xml"/><Relationship Id="rId58" Type="http://schemas.openxmlformats.org/officeDocument/2006/relationships/slide" Target="slides/slide17.xml"/><Relationship Id="rId59" Type="http://schemas.openxmlformats.org/officeDocument/2006/relationships/slide" Target="slides/slide22.xml"/><Relationship Id="rId60" Type="http://schemas.openxmlformats.org/officeDocument/2006/relationships/slide" Target="slides/slide21.xml"/><Relationship Id="rId61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_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/>
          <a:lstStyle/>
          <a:p>
            <a:r>
              <a:rPr lang="zh-CN" dirty="0"/>
              <a:t>开场 20 秒：各位老师好，我是贺超。课题是个人智能记账管理系统，基于 FastAPI 与大语言模型。三个关键词：全异步架构、LLM 智能能力、多端一致体验。下面从选题背景开始汇报。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/>
          <a:lstStyle/>
          <a:p>
            <a:r>
              <a:rPr lang="zh-CN" dirty="0"/>
              <a:t>汇报分六部分，对应开题报告九章。请先告诉老师一条主线：本课题以三项可核验的验收口径贯穿全文，结尾会回收。预计陈述十分钟。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/>
          <a:lstStyle/>
          <a:p>
            <a:r>
              <a:rPr lang="zh-CN" dirty="0"/>
              <a:t>背景两句话：移动支付让消费碎片化，现有产品只回答花了多少、不回答结构是否健康；LLM 让记账从事后补录变成对话式记录。但把 LLM 放进完整系统有三类工程困难——架构整合、流式并发、输出可控，右表是本课题的立题起点。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/>
          <a:lstStyle/>
          <a:p>
            <a:r>
              <a:rPr lang="zh-CN" dirty="0"/>
              <a:t>意义落在两点：理论上检验单进程异步整合与 LLM 输出可靠性两类方法；实践上交付 Web/H5/小程序/App 可运行多端系统。边界与合规：不改客户端契约；收支数据属敏感个人信息，遵循个保法[7]。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/>
          <a:lstStyle/>
          <a:p>
            <a:r>
              <a:rPr lang="zh-CN" dirty="0"/>
              <a:t>三条研究线各一行带过：PFM 功能趋同重记录轻解释[1][2]；LLM 理财方向 BloombergGPT/FinGPT 偏重训练专用模型[8][9][11]，缺用户级上下文；RAG 检索充分但降级讨论薄[16][17][18]。落点是共同判断：个人理财更适合通用模型加个性化上下文。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/>
          <a:lstStyle/>
          <a:p>
            <a:r>
              <a:rPr lang="zh-CN" dirty="0"/>
              <a:t>这页是问题到方案的桥：不足一架构整合少→切入点单异步进程；不足二模型能生成与程序能用断层→切入点校验与降级；不足三降级关注不足→切入点关键词降级。逐对讲，每对约十秒。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/>
          <a:lstStyle/>
          <a:p>
            <a:r>
              <a:rPr lang="zh-CN" dirty="0"/>
              <a:t>目标三条：多端覆盖、四项智能能力、架构重构。重点读底部验收口径：非法落库为零、降级非空返回、并发去重一条——这是全文的承诺，后面每个机制都服务于这三条。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/>
          <a:lstStyle/>
          <a:p>
            <a:r>
              <a:rPr lang="zh-CN" dirty="0"/>
              <a:t>系统构成三个数字：Web 12 页移动端 10 页，六组路由 46 接口另设健康检查，MySQL 九表。右侧九个功能模块，其中 AI 记账与 AI 分析分列，与报告口径统一为九个。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Context 的第二件事是 Memory。这个项目没有 CHANGELOG、没有 ROADMAP、没有测试。git log 只有 10 条提交，还是双根提交，没有 tag；main.py 里健康检查自称 2.0.0，却找不到任何对应的版本标记。对一个三端项目来说，这意味着每改一行都要人肉点一遍。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Context 的第三件事是 Tool Use。仓库里其实已经有三个下划线开头的脚本，分别做财务上下文检查、月度 API 测试和统计验证——这就是工具调用的雏形。但它们既不是 pytest 测试，也没进 CI，全靠人手跑。右侧这条三级升级路径，就是把"手工作坊"升级为"工程流水线"。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/>
          <a:lstStyle/>
          <a:p>
            <a:r>
              <a:rPr lang="zh-CN" dirty="0"/>
              <a:t>需求两栏：普通用户六项功能，管理员五项职能。两条原则单独强调：业务查询强制携带当前用户条件；管理端在鉴权之上叠加 role 校验。这是数据隔离需求的来源。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/>
          <a:lstStyle/>
          <a:p>
            <a:r>
              <a:rPr lang="zh-CN" dirty="0"/>
              <a:t>九模块功能清单逐项与报告表一对应。预算规划以 50/30/20 法则为参考、由用户真实数据驱动，不是固定模板。这页约二十秒，告诉老师详细清单在报告里。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/>
          <a:lstStyle/>
          <a:p>
            <a:r>
              <a:rPr lang="zh-CN" dirty="0"/>
              <a:t>非功能四条硬约束逐个点名：流式与常规请求并发互不阻塞；bcrypt 加 JWT；金额 DECIMAL(10,2) 禁用浮点；外部服务失效核心功能可用。后两条分别对应账务准确性与降级需求。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/>
          <a:lstStyle/>
          <a:p>
            <a:r>
              <a:rPr lang="zh-CN" dirty="0"/>
              <a:t>技术路线六阶段允许回退。重点讲工程保障：一条 CI 工作流三阶段后端测试、Web 构建、移动端构建（仓库已实装）；Docker Compose 编排三服务一键部署。环境一致性降低交付风险。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/>
          <a:lstStyle/>
          <a:p>
            <a:r>
              <a:rPr lang="zh-CN" dirty="0"/>
              <a:t>选型表不逐项念，只讲三个关键：FastAPI 全异步与 SSE 长连接共存；SQLAlchemy 2.0 加 aiomysql 全异步访问；APScheduler 标注为拟引入可选依赖，当前只留 TODO 未启用，口径诚实。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/>
          <a:lstStyle/>
          <a:p>
            <a:r>
              <a:rPr lang="zh-CN" dirty="0"/>
              <a:t>架构目标态：客户端层→单个 FastAPI 全异步进程→数据与外部服务层。呼应第 3 页三进程困难：AI 不再是独立进程，而是进程内调用；模型服务经 OpenAI 兼容协议接入，不绑定厂商。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_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数据库是 MySQL 单库九张表，核心是账单记录表。E-R 图给出四组主要关系：用户对分类、账单、会话都是一对多；账单对分类是 N 比 1 引用，外键设 RESTRICT，有引用的分类不可删除；会话对消息一对多，点赞点踩反馈挂在消息侧。FAQ 知识库、幂等日志和预留的用户令牌表独立存放。统一约定上，金额一律 DECIMAL(10,2)、禁用浮点，主键自增 BIGINT，会话三表沿用字符串主键；账单表建了用户加日期等三条复合索引，保证统计查询能命中索引。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/>
          <a:lstStyle/>
          <a:p>
            <a:r>
              <a:rPr lang="zh-CN" dirty="0"/>
              <a:t>数据库设计用简化 E-R 讲四组关系：用户拥有分类、记账、对话；账单对分类 RESTRICT 有引用不可删；消息归属会话、反馈挂消息侧。金额 DECIMAL(10,2) 与三条复合索引是统计正确性的基础。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这是可执行的行动清单。P0 是止血：依赖、License、仓库清理，三件事做完，项目才谈得上"能被别人跑起来"。P1 是建门槛：测试加 CI，再加一键体验，项目才谈得上"可持续维护"。P2 是社区化：模板、指南、路线图，这些是长期建设，不着急但不能没有。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/>
          <a:lstStyle/>
          <a:p>
            <a:r>
              <a:rPr lang="zh-CN" dirty="0"/>
              <a:t>验证设计是方法论卖点：V1 五类畸形各十例加正常五十例、误拦不超百分之五；V2 三十条查询集 Embedding 三态注入；V3 并发重放同 client_msg_id；V4 预注册对照实验，配对 t 检验 d=0.5、n=50。前三项确定性验证，最后一项统计检验。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八个关键问题快速过，只展开三个：问题三 SSE 全链路异步（任一同步调用都会阻塞事件循环）、问题四输出可靠性（模式约束加 Pydantic 校验，失败不落库）、问题六上下文成本。其余一句话带过。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核心机制页，慢讲：五步链路中归属校验必须在生成器启动前完成（代码注释原话）；上下文注入当月汇总、环比、Top5 分类，让对话基于真实账单；滑动窗口预算两千 token 最多六条，控成本也是 V4 验证对象。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可行性四维各两句：全栈开源生态成熟；三进程原型已验证产品形态、关键机制有可运行代码；账单自产、V4 用合成画像无隐私；开源免费、降级机制降低外部依赖。结论：风险已识别且均有验证方案。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代码页是实证锚点：三处均有真实代码可现场演示。口径提醒：校验失败指账单不落库，幂等占位日志先行写入是设计使然；不说全链路无浮点，浮点仅在 AI 输出层。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进度时间轴：今天是 2026 年 9 月 29 日，文献调研已完成（橙色），需求分析正在进行。编码跨寒假顺延的注主动说，诚实加分。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创新点状态标注是好牌：降级检索、结构化校验、幂等记账三项已有实现可演示，其余标注验证中/设计中。被质疑时按状态答。结尾重读硬口径三句。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结语三十秒：回到课题定位与三项口径，主动交代 V4 边界（限于合成画像与小规模盲评，不外推真实用户总体），主助邀请各位老师指正。谢谢！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_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0B122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560000"/>
            <a:ext cx="1016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B9CBF2"/>
                </a:solidFill>
                <a:latin typeface="微软雅黑"/>
                <a:ea typeface="微软雅黑"/>
                <a:cs typeface="微软雅黑"/>
              </a:rPr>
              <a:t>本科毕业设计（论文）开题报告　·　2026 年 9 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" y="1300000"/>
            <a:ext cx="10160000" cy="1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4400" b="1">
                <a:solidFill>
                  <a:srgbClr val="F4F8FF"/>
                </a:solidFill>
                <a:latin typeface="微软雅黑"/>
                <a:ea typeface="微软雅黑"/>
                <a:cs typeface="微软雅黑"/>
              </a:rPr>
              <a:t>个人智能记账管理系统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500" b="0">
                <a:solidFill>
                  <a:srgbClr val="DBE6FA"/>
                </a:solidFill>
                <a:latin typeface="微软雅黑"/>
                <a:ea typeface="微软雅黑"/>
                <a:cs typeface="微软雅黑"/>
              </a:rPr>
              <a:t>基于 FastAPI 与大语言模型的设计与实现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94000" y="3500000"/>
            <a:ext cx="1800000" cy="540000"/>
          </a:xfrm>
          <a:prstGeom prst="roundRect">
            <a:avLst/>
          </a:prstGeom>
          <a:noFill/>
          <a:ln w="12700">
            <a:solidFill>
              <a:srgbClr val="4663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>
            <a:extLst>
              <a:ext uri="{FF2B5EF4-FFF2-40B4-BE49-F238E27FC236}">
                <a16:creationId id="{115DCF39-A8D2-4715-BD60-B440B97F3303}"/>
              </a:ext>
            </a:extLst>
          </p:cNvPr>
          <p:cNvSpPr txBox="1"/>
          <p:nvPr/>
        </p:nvSpPr>
        <p:spPr>
          <a:xfrm>
            <a:off x="2791425" y="3571875"/>
            <a:ext cx="1802225" cy="3714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F4F8FF"/>
                </a:solidFill>
                <a:latin typeface="微软雅黑"/>
                <a:ea typeface="微软雅黑"/>
                <a:cs typeface="微软雅黑"/>
              </a:rPr>
              <a:t>全异步架构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18200" y="3500000"/>
            <a:ext cx="1800000" cy="540000"/>
          </a:xfrm>
          <a:prstGeom prst="roundRect">
            <a:avLst/>
          </a:prstGeom>
          <a:noFill/>
          <a:ln w="12700">
            <a:solidFill>
              <a:srgbClr val="4663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>
            <a:extLst>
              <a:ext uri="{FF2B5EF4-FFF2-40B4-BE49-F238E27FC236}">
                <a16:creationId id="{55D2A59F-FAF5-490A-BC6C-5AE32A1EC7C1}"/>
              </a:ext>
            </a:extLst>
          </p:cNvPr>
          <p:cNvSpPr txBox="1"/>
          <p:nvPr/>
        </p:nvSpPr>
        <p:spPr>
          <a:xfrm>
            <a:off x="5918175" y="3571875"/>
            <a:ext cx="1802225" cy="3714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F4F8FF"/>
                </a:solidFill>
                <a:latin typeface="微软雅黑"/>
                <a:ea typeface="微软雅黑"/>
                <a:cs typeface="微软雅黑"/>
              </a:rPr>
              <a:t>LLM 智能能力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42400" y="3500000"/>
            <a:ext cx="1800000" cy="540000"/>
          </a:xfrm>
          <a:prstGeom prst="roundRect">
            <a:avLst/>
          </a:prstGeom>
          <a:noFill/>
          <a:ln w="12700">
            <a:solidFill>
              <a:srgbClr val="4663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>
            <a:extLst>
              <a:ext uri="{FF2B5EF4-FFF2-40B4-BE49-F238E27FC236}">
                <a16:creationId id="{B95C0342-2DBE-47A4-827E-D251561736D3}"/>
              </a:ext>
            </a:extLst>
          </p:cNvPr>
          <p:cNvSpPr txBox="1"/>
          <p:nvPr/>
        </p:nvSpPr>
        <p:spPr>
          <a:xfrm>
            <a:off x="9037575" y="3571875"/>
            <a:ext cx="1802225" cy="3714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F4F8FF"/>
                </a:solidFill>
                <a:latin typeface="微软雅黑"/>
                <a:ea typeface="微软雅黑"/>
                <a:cs typeface="微软雅黑"/>
              </a:rPr>
              <a:t>多端一致体验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550000"/>
            <a:ext cx="7000000" cy="1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CBD9F2"/>
                </a:solidFill>
                <a:latin typeface="微软雅黑"/>
                <a:ea typeface="微软雅黑"/>
                <a:cs typeface="微软雅黑"/>
              </a:rPr>
              <a:t>学科方向：数据科学与大数据技术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CBD9F2"/>
                </a:solidFill>
                <a:latin typeface="微软雅黑"/>
                <a:ea typeface="微软雅黑"/>
                <a:cs typeface="微软雅黑"/>
              </a:rPr>
              <a:t>课题来源：教师指导下的自选题目（毕业设计）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CBD9F2"/>
                </a:solidFill>
                <a:latin typeface="微软雅黑"/>
                <a:ea typeface="微软雅黑"/>
                <a:cs typeface="微软雅黑"/>
              </a:rPr>
              <a:t>完成形式：个人独立完成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6000" y="6050000"/>
            <a:ext cx="10160000" cy="9525"/>
          </a:xfrm>
          <a:prstGeom prst="rect">
            <a:avLst/>
          </a:prstGeom>
          <a:solidFill>
            <a:srgbClr val="2C4A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6000" y="6170000"/>
            <a:ext cx="65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F4F8FF"/>
                </a:solidFill>
                <a:latin typeface="微软雅黑"/>
                <a:ea typeface="微软雅黑"/>
                <a:cs typeface="微软雅黑"/>
              </a:rPr>
              <a:t>贺　超　·　学号 20250784146　·　指导教师 谢志洪</a:t>
            </a:r>
          </a:p>
        </p:txBody>
      </p:sp>
    </p:spTree>
  </p:cSld>
  <p:clrMapOvr>
    <a:masterClrMapping/>
  </p:clrMapOvr>
  <mc:AlternateContent xmlns:mc="http://schemas.openxmlformats.org/markup-compatibility/2006">
    <mc:Choice Requires="p14">
      <p:transition spd="fast" advClick="1" p14:dur="400">
        <p:fade/>
      </p:transition>
    </mc:Choice>
    <mc:Fallback>
      <p:transition spd="fast" advClick="1">
        <p:fade/>
      </p:transition>
    </mc:Fallback>
  </mc:AlternateContent>
</p:sld>
</file>

<file path=ppt/slides/slide2.xml><?xml version="1.0" encoding="utf-8"?>
<p:sld xmlns:a="http://schemas.openxmlformats.org/drawingml/2006/main" xmlns:a16="http://schemas.microsoft.com/office/drawing/2014/main" xmlns:p="http://schemas.openxmlformats.org/presentationml/2006/main">
  <p:cSld>
    <p:bg>
      <p:bgPr>
        <a:solidFill>
          <a:srgbClr val="0B122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16000" y="500000"/>
            <a:ext cx="10160000" cy="6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汇报提纲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190000"/>
            <a:ext cx="101600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选题背景 · 研究现状 · 目标内容 · 需求分析 · 技术路线 · 进度成果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6400000"/>
            <a:ext cx="10160000" cy="9525"/>
          </a:xfrm>
          <a:prstGeom prst="rect">
            <a:avLst/>
          </a:prstGeom>
          <a:solidFill>
            <a:srgbClr val="18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>
            <a:extLst>
              <a:ext uri="{FF2B5EF4-FFF2-40B4-BE49-F238E27FC236}">
                <a16:creationId id="{F7B289C7-92FA-4E3D-9AF8-D65F68D4B5D4}"/>
              </a:ext>
            </a:extLst>
          </p:cNvPr>
          <p:cNvSpPr txBox="1"/>
          <p:nvPr/>
        </p:nvSpPr>
        <p:spPr>
          <a:xfrm>
            <a:off x="9350000" y="6450000"/>
            <a:ext cx="1866000" cy="308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02 / 23</a:t>
            </a:r>
          </a:p>
        </p:txBody>
      </p:sp>
      <p:sp>
        <p:nvSpPr>
          <p:cNvPr id="6" name="TextBox 5">
            <a:extLst>
              <a:ext uri="{FF2B5EF4-FFF2-40B4-BE49-F238E27FC236}">
                <a16:creationId id="{B9E88B00-6538-40DA-A3AE-A11F45B04998}"/>
              </a:ext>
            </a:extLst>
          </p:cNvPr>
          <p:cNvSpPr txBox="1"/>
          <p:nvPr/>
        </p:nvSpPr>
        <p:spPr>
          <a:xfrm>
            <a:off x="1018538" y="2152650"/>
            <a:ext cx="781620" cy="447675"/>
          </a:xfrm>
          <a:prstGeom prst="rect">
            <a:avLst/>
          </a:prstGeom>
          <a:noFill/>
        </p:spPr>
        <p:txBody>
          <a:bodyPr anchor="ctr"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22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>
            <a:extLst>
              <a:ext uri="{FF2B5EF4-FFF2-40B4-BE49-F238E27FC236}">
                <a16:creationId id="{D96ED32E-01F0-4938-B057-70403018407D}"/>
              </a:ext>
            </a:extLst>
          </p:cNvPr>
          <p:cNvSpPr txBox="1"/>
          <p:nvPr/>
        </p:nvSpPr>
        <p:spPr>
          <a:xfrm>
            <a:off x="1857375" y="2221860"/>
            <a:ext cx="4996815" cy="296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500"/>
              </a:spcAft>
            </a:pPr>
            <a:r>
              <a:rPr sz="1700" b="1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选题背景与意义</a:t>
            </a:r>
          </a:p>
        </p:txBody>
      </p:sp>
      <p:sp>
        <p:nvSpPr>
          <p:cNvPr id="8" name="TextBox 7">
            <a:extLst>
              <a:ext uri="{FF2B5EF4-FFF2-40B4-BE49-F238E27FC236}">
                <a16:creationId id="{35C95056-0890-40CF-BBA1-D3697324A2C6}"/>
              </a:ext>
            </a:extLst>
          </p:cNvPr>
          <p:cNvSpPr txBox="1"/>
          <p:nvPr/>
        </p:nvSpPr>
        <p:spPr>
          <a:xfrm>
            <a:off x="1857375" y="2524823"/>
            <a:ext cx="5194305" cy="2952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500"/>
              </a:spcAft>
            </a:pPr>
            <a:r>
              <a:rPr sz="18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碎片化消费、产品局限与三类工程困难</a:t>
            </a:r>
          </a:p>
        </p:txBody>
      </p:sp>
      <p:sp>
        <p:nvSpPr>
          <p:cNvPr id="10" name="TextBox 9">
            <a:extLst>
              <a:ext uri="{FF2B5EF4-FFF2-40B4-BE49-F238E27FC236}">
                <a16:creationId id="{13584C1C-4610-4506-8436-25E62E3B92E0}"/>
              </a:ext>
            </a:extLst>
          </p:cNvPr>
          <p:cNvSpPr txBox="1"/>
          <p:nvPr/>
        </p:nvSpPr>
        <p:spPr>
          <a:xfrm>
            <a:off x="1018538" y="2901118"/>
            <a:ext cx="781620" cy="447675"/>
          </a:xfrm>
          <a:prstGeom prst="rect">
            <a:avLst/>
          </a:prstGeom>
          <a:noFill/>
        </p:spPr>
        <p:txBody>
          <a:bodyPr anchor="ctr"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22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>
            <a:extLst>
              <a:ext uri="{FF2B5EF4-FFF2-40B4-BE49-F238E27FC236}">
                <a16:creationId id="{3901A536-C0B2-49C1-874E-97A4A25DCB75}"/>
              </a:ext>
            </a:extLst>
          </p:cNvPr>
          <p:cNvSpPr txBox="1"/>
          <p:nvPr/>
        </p:nvSpPr>
        <p:spPr>
          <a:xfrm>
            <a:off x="1857375" y="2970343"/>
            <a:ext cx="4996815" cy="296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500"/>
              </a:spcAft>
            </a:pPr>
            <a:r>
              <a:rPr sz="1700" b="1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国内外研究现状</a:t>
            </a:r>
          </a:p>
        </p:txBody>
      </p:sp>
      <p:sp>
        <p:nvSpPr>
          <p:cNvPr id="12" name="TextBox 11">
            <a:extLst>
              <a:ext uri="{FF2B5EF4-FFF2-40B4-BE49-F238E27FC236}">
                <a16:creationId id="{EB5A283B-1DDE-462D-B622-AA656EEEF2B1}"/>
              </a:ext>
            </a:extLst>
          </p:cNvPr>
          <p:cNvSpPr txBox="1"/>
          <p:nvPr/>
        </p:nvSpPr>
        <p:spPr>
          <a:xfrm>
            <a:off x="1857375" y="3273321"/>
            <a:ext cx="5194305" cy="2952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500"/>
              </a:spcAft>
            </a:pPr>
            <a:r>
              <a:rPr sz="18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PFM 软件 / LLM 理财 / 检索增强</a:t>
            </a:r>
          </a:p>
        </p:txBody>
      </p:sp>
      <p:sp>
        <p:nvSpPr>
          <p:cNvPr id="13" name="Rectangle 12">
            <a:extLst>
              <a:ext uri="{FF2B5EF4-FFF2-40B4-BE49-F238E27FC236}">
                <a16:creationId id="{DCBB464F-FD0D-4824-8B21-E3D377954A3D}"/>
              </a:ext>
            </a:extLst>
          </p:cNvPr>
          <p:cNvSpPr/>
          <p:nvPr/>
        </p:nvSpPr>
        <p:spPr>
          <a:xfrm>
            <a:off x="1018538" y="2897505"/>
            <a:ext cx="6036315" cy="9525"/>
          </a:xfrm>
          <a:prstGeom prst="rect">
            <a:avLst/>
          </a:prstGeom>
          <a:solidFill>
            <a:srgbClr val="18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>
            <a:extLst>
              <a:ext uri="{FF2B5EF4-FFF2-40B4-BE49-F238E27FC236}">
                <a16:creationId id="{B46A0346-8FE9-499A-BF34-CD14A107BEA5}"/>
              </a:ext>
            </a:extLst>
          </p:cNvPr>
          <p:cNvSpPr txBox="1"/>
          <p:nvPr/>
        </p:nvSpPr>
        <p:spPr>
          <a:xfrm>
            <a:off x="1018538" y="3649621"/>
            <a:ext cx="781620" cy="447675"/>
          </a:xfrm>
          <a:prstGeom prst="rect">
            <a:avLst/>
          </a:prstGeom>
          <a:noFill/>
        </p:spPr>
        <p:txBody>
          <a:bodyPr anchor="ctr"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22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5" name="TextBox 14">
            <a:extLst>
              <a:ext uri="{FF2B5EF4-FFF2-40B4-BE49-F238E27FC236}">
                <a16:creationId id="{E6F5FB92-28C7-46A6-9D5A-E216D778BD68}"/>
              </a:ext>
            </a:extLst>
          </p:cNvPr>
          <p:cNvSpPr txBox="1"/>
          <p:nvPr/>
        </p:nvSpPr>
        <p:spPr>
          <a:xfrm>
            <a:off x="1857375" y="3718846"/>
            <a:ext cx="4996815" cy="296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500"/>
              </a:spcAft>
            </a:pPr>
            <a:r>
              <a:rPr sz="1700" b="1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研究目标与内容</a:t>
            </a:r>
          </a:p>
        </p:txBody>
      </p:sp>
      <p:sp>
        <p:nvSpPr>
          <p:cNvPr id="16" name="TextBox 15">
            <a:extLst>
              <a:ext uri="{FF2B5EF4-FFF2-40B4-BE49-F238E27FC236}">
                <a16:creationId id="{477BC8FE-8885-4E72-BFA6-FA53E6459D5E}"/>
              </a:ext>
            </a:extLst>
          </p:cNvPr>
          <p:cNvSpPr txBox="1"/>
          <p:nvPr/>
        </p:nvSpPr>
        <p:spPr>
          <a:xfrm>
            <a:off x="1857375" y="4021808"/>
            <a:ext cx="5194305" cy="2952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500"/>
              </a:spcAft>
            </a:pPr>
            <a:r>
              <a:rPr sz="18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十模块、57 接口、14 张表、九项关键问题</a:t>
            </a:r>
          </a:p>
        </p:txBody>
      </p:sp>
      <p:sp>
        <p:nvSpPr>
          <p:cNvPr id="17" name="Rectangle 16">
            <a:extLst>
              <a:ext uri="{FF2B5EF4-FFF2-40B4-BE49-F238E27FC236}">
                <a16:creationId id="{44A41E65-F3AB-4D83-A020-FB15E3B53A6A}"/>
              </a:ext>
            </a:extLst>
          </p:cNvPr>
          <p:cNvSpPr/>
          <p:nvPr/>
        </p:nvSpPr>
        <p:spPr>
          <a:xfrm>
            <a:off x="1018538" y="3646008"/>
            <a:ext cx="6036315" cy="9525"/>
          </a:xfrm>
          <a:prstGeom prst="rect">
            <a:avLst/>
          </a:prstGeom>
          <a:solidFill>
            <a:srgbClr val="18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extLst>
              <a:ext uri="{FF2B5EF4-FFF2-40B4-BE49-F238E27FC236}">
                <a16:creationId id="{7217D6FD-E481-46F9-9088-FF8AFB4DAB93}"/>
              </a:ext>
            </a:extLst>
          </p:cNvPr>
          <p:cNvSpPr txBox="1"/>
          <p:nvPr/>
        </p:nvSpPr>
        <p:spPr>
          <a:xfrm>
            <a:off x="1018538" y="4398708"/>
            <a:ext cx="781620" cy="447675"/>
          </a:xfrm>
          <a:prstGeom prst="rect">
            <a:avLst/>
          </a:prstGeom>
          <a:noFill/>
        </p:spPr>
        <p:txBody>
          <a:bodyPr anchor="ctr"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22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9" name="TextBox 18">
            <a:extLst>
              <a:ext uri="{FF2B5EF4-FFF2-40B4-BE49-F238E27FC236}">
                <a16:creationId id="{81A80BA8-565F-4A83-94D7-0E962CF7E48B}"/>
              </a:ext>
            </a:extLst>
          </p:cNvPr>
          <p:cNvSpPr txBox="1"/>
          <p:nvPr/>
        </p:nvSpPr>
        <p:spPr>
          <a:xfrm>
            <a:off x="1857375" y="4467933"/>
            <a:ext cx="4996815" cy="296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500"/>
              </a:spcAft>
            </a:pPr>
            <a:r>
              <a:rPr sz="1700" b="1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系统需求分析</a:t>
            </a:r>
          </a:p>
        </p:txBody>
      </p:sp>
      <p:sp>
        <p:nvSpPr>
          <p:cNvPr id="20" name="TextBox 19">
            <a:extLst>
              <a:ext uri="{FF2B5EF4-FFF2-40B4-BE49-F238E27FC236}">
                <a16:creationId id="{4A378A0C-BE45-4DC5-A752-FA0B78793229}"/>
              </a:ext>
            </a:extLst>
          </p:cNvPr>
          <p:cNvSpPr txBox="1"/>
          <p:nvPr/>
        </p:nvSpPr>
        <p:spPr>
          <a:xfrm>
            <a:off x="1857375" y="4770895"/>
            <a:ext cx="5194305" cy="2952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500"/>
              </a:spcAft>
            </a:pPr>
            <a:r>
              <a:rPr sz="18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功能清单、非功能约束与双角色</a:t>
            </a:r>
          </a:p>
        </p:txBody>
      </p:sp>
      <p:sp>
        <p:nvSpPr>
          <p:cNvPr id="21" name="Rectangle 20">
            <a:extLst>
              <a:ext uri="{FF2B5EF4-FFF2-40B4-BE49-F238E27FC236}">
                <a16:creationId id="{15CA5C79-AF80-45C4-8547-775917BB5363}"/>
              </a:ext>
            </a:extLst>
          </p:cNvPr>
          <p:cNvSpPr/>
          <p:nvPr/>
        </p:nvSpPr>
        <p:spPr>
          <a:xfrm>
            <a:off x="1018538" y="4395096"/>
            <a:ext cx="6036315" cy="9525"/>
          </a:xfrm>
          <a:prstGeom prst="rect">
            <a:avLst/>
          </a:prstGeom>
          <a:solidFill>
            <a:srgbClr val="18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extLst>
              <a:ext uri="{FF2B5EF4-FFF2-40B4-BE49-F238E27FC236}">
                <a16:creationId id="{C006BD25-0284-491C-A51C-E6115B640841}"/>
              </a:ext>
            </a:extLst>
          </p:cNvPr>
          <p:cNvSpPr txBox="1"/>
          <p:nvPr/>
        </p:nvSpPr>
        <p:spPr>
          <a:xfrm>
            <a:off x="1018538" y="5147746"/>
            <a:ext cx="781620" cy="447675"/>
          </a:xfrm>
          <a:prstGeom prst="rect">
            <a:avLst/>
          </a:prstGeom>
          <a:noFill/>
        </p:spPr>
        <p:txBody>
          <a:bodyPr anchor="ctr"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22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3" name="TextBox 22">
            <a:extLst>
              <a:ext uri="{FF2B5EF4-FFF2-40B4-BE49-F238E27FC236}">
                <a16:creationId id="{37F3E3B1-B0BC-472E-96FA-51B5E1B4BCD2}"/>
              </a:ext>
            </a:extLst>
          </p:cNvPr>
          <p:cNvSpPr txBox="1"/>
          <p:nvPr/>
        </p:nvSpPr>
        <p:spPr>
          <a:xfrm>
            <a:off x="1857375" y="5216971"/>
            <a:ext cx="4996815" cy="296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500"/>
              </a:spcAft>
            </a:pPr>
            <a:r>
              <a:rPr sz="1700" b="1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技术路线与实现</a:t>
            </a:r>
          </a:p>
        </p:txBody>
      </p:sp>
      <p:sp>
        <p:nvSpPr>
          <p:cNvPr id="24" name="TextBox 23">
            <a:extLst>
              <a:ext uri="{FF2B5EF4-FFF2-40B4-BE49-F238E27FC236}">
                <a16:creationId id="{121259AE-08B7-4159-850A-F775E4B34F90}"/>
              </a:ext>
            </a:extLst>
          </p:cNvPr>
          <p:cNvSpPr txBox="1"/>
          <p:nvPr/>
        </p:nvSpPr>
        <p:spPr>
          <a:xfrm>
            <a:off x="1857375" y="5519950"/>
            <a:ext cx="5194305" cy="2952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500"/>
              </a:spcAft>
            </a:pPr>
            <a:r>
              <a:rPr sz="18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架构、可行性、关键代码与四项验证</a:t>
            </a:r>
          </a:p>
        </p:txBody>
      </p:sp>
      <p:sp>
        <p:nvSpPr>
          <p:cNvPr id="25" name="Rectangle 24">
            <a:extLst>
              <a:ext uri="{FF2B5EF4-FFF2-40B4-BE49-F238E27FC236}">
                <a16:creationId id="{CEE12E5B-F150-4957-9012-B2E4661271A7}"/>
              </a:ext>
            </a:extLst>
          </p:cNvPr>
          <p:cNvSpPr/>
          <p:nvPr/>
        </p:nvSpPr>
        <p:spPr>
          <a:xfrm>
            <a:off x="1018538" y="6000750"/>
            <a:ext cx="6036315" cy="9525"/>
          </a:xfrm>
          <a:prstGeom prst="rect">
            <a:avLst/>
          </a:prstGeom>
          <a:solidFill>
            <a:srgbClr val="18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extLst>
              <a:ext uri="{FF2B5EF4-FFF2-40B4-BE49-F238E27FC236}">
                <a16:creationId id="{EADB1C6A-7DF6-4F06-AB2F-8A80F9F54D5D}"/>
              </a:ext>
            </a:extLst>
          </p:cNvPr>
          <p:cNvSpPr txBox="1"/>
          <p:nvPr/>
        </p:nvSpPr>
        <p:spPr>
          <a:xfrm>
            <a:off x="1018538" y="5896783"/>
            <a:ext cx="781620" cy="447675"/>
          </a:xfrm>
          <a:prstGeom prst="rect">
            <a:avLst/>
          </a:prstGeom>
          <a:noFill/>
        </p:spPr>
        <p:txBody>
          <a:bodyPr anchor="ctr"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22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27" name="TextBox 26">
            <a:extLst>
              <a:ext uri="{FF2B5EF4-FFF2-40B4-BE49-F238E27FC236}">
                <a16:creationId id="{53618A65-82AF-4815-AF60-0F10CA60F791}"/>
              </a:ext>
            </a:extLst>
          </p:cNvPr>
          <p:cNvSpPr txBox="1"/>
          <p:nvPr/>
        </p:nvSpPr>
        <p:spPr>
          <a:xfrm>
            <a:off x="1857375" y="5966008"/>
            <a:ext cx="4996815" cy="296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500"/>
              </a:spcAft>
            </a:pPr>
            <a:r>
              <a:rPr sz="1700" b="1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进度安排与成果</a:t>
            </a:r>
          </a:p>
        </p:txBody>
      </p:sp>
      <p:sp>
        <p:nvSpPr>
          <p:cNvPr id="28" name="TextBox 27">
            <a:extLst>
              <a:ext uri="{FF2B5EF4-FFF2-40B4-BE49-F238E27FC236}">
                <a16:creationId id="{AA375C6F-014A-4AE2-8672-31299519D095}"/>
              </a:ext>
            </a:extLst>
          </p:cNvPr>
          <p:cNvSpPr txBox="1"/>
          <p:nvPr/>
        </p:nvSpPr>
        <p:spPr>
          <a:xfrm>
            <a:off x="1857375" y="6268970"/>
            <a:ext cx="5194305" cy="2952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500"/>
              </a:spcAft>
            </a:pPr>
            <a:r>
              <a:rPr sz="18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六阶段安排、三项成果与六项创新点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0000" y="2150000"/>
            <a:ext cx="33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技术路线主线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50000" y="2590000"/>
            <a:ext cx="2400000" cy="50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>
            <a:extLst>
              <a:ext uri="{FF2B5EF4-FFF2-40B4-BE49-F238E27FC236}">
                <a16:creationId id="{EE598914-33DB-43CD-B3B1-3B0B7E893884}"/>
              </a:ext>
            </a:extLst>
          </p:cNvPr>
          <p:cNvSpPr txBox="1"/>
          <p:nvPr/>
        </p:nvSpPr>
        <p:spPr>
          <a:xfrm>
            <a:off x="8351525" y="2715260"/>
            <a:ext cx="2399666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800" b="1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工程问题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0000" y="3090000"/>
            <a:ext cx="400000" cy="25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350000" y="3270000"/>
            <a:ext cx="2400000" cy="50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>
            <a:extLst>
              <a:ext uri="{FF2B5EF4-FFF2-40B4-BE49-F238E27FC236}">
                <a16:creationId id="{67B304C8-28B1-4680-85A3-9979E32B20B1}"/>
              </a:ext>
            </a:extLst>
          </p:cNvPr>
          <p:cNvSpPr txBox="1"/>
          <p:nvPr/>
        </p:nvSpPr>
        <p:spPr>
          <a:xfrm>
            <a:off x="8351525" y="3377565"/>
            <a:ext cx="2399666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800" b="1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架构重构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30000" y="3770000"/>
            <a:ext cx="400000" cy="25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350000" y="3950000"/>
            <a:ext cx="2400000" cy="50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>
            <a:extLst>
              <a:ext uri="{FF2B5EF4-FFF2-40B4-BE49-F238E27FC236}">
                <a16:creationId id="{7CA62EE8-7CD7-42A9-BAEA-43F66D8390FD}"/>
              </a:ext>
            </a:extLst>
          </p:cNvPr>
          <p:cNvSpPr txBox="1"/>
          <p:nvPr/>
        </p:nvSpPr>
        <p:spPr>
          <a:xfrm>
            <a:off x="8351525" y="4057900"/>
            <a:ext cx="2399666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800" b="1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能力落地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fast" advClick="1" p14:dur="400">
        <p:fade/>
      </p:transition>
    </mc:Choice>
    <mc:Fallback>
      <p:transition spd="fast" advClick="1">
        <p:fade/>
      </p:transition>
    </mc:Fallback>
  </mc:AlternateContent>
</p:sld>
</file>

<file path=ppt/slides/slide3.xml><?xml version="1.0" encoding="utf-8"?>
<p:sld xmlns:a="http://schemas.openxmlformats.org/drawingml/2006/main" xmlns:a16="http://schemas.microsoft.com/office/drawing/2014/main" xmlns:p="http://schemas.openxmlformats.org/presentationml/2006/main">
  <p:cSld>
    <p:bg>
      <p:bgPr>
        <a:solidFill>
          <a:srgbClr val="0B122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16000" y="500000"/>
            <a:ext cx="10160000" cy="6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移动支付让记账变难，现有产品只回答“花了多少”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190000"/>
            <a:ext cx="101600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01　选题背景与意义　·　研究背景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6400000"/>
            <a:ext cx="10160000" cy="9525"/>
          </a:xfrm>
          <a:prstGeom prst="rect">
            <a:avLst/>
          </a:prstGeom>
          <a:solidFill>
            <a:srgbClr val="18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>
            <a:extLst>
              <a:ext uri="{FF2B5EF4-FFF2-40B4-BE49-F238E27FC236}">
                <a16:creationId id="{515AA298-AAC5-459A-B2D6-4877919D1E75}"/>
              </a:ext>
            </a:extLst>
          </p:cNvPr>
          <p:cNvSpPr txBox="1"/>
          <p:nvPr/>
        </p:nvSpPr>
        <p:spPr>
          <a:xfrm>
            <a:off x="9350000" y="6450000"/>
            <a:ext cx="1866000" cy="308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03 / 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6000" y="2090000"/>
            <a:ext cx="5200000" cy="174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17168" y="2190000"/>
            <a:ext cx="4852528" cy="1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现实问题与产品局限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移动支付使消费碎片化：单笔小、频次高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现有产品停在“记录—分类—统计”这一步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只答“花了多少”，不答“结构是否健康”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6000" y="3950000"/>
            <a:ext cx="5200000" cy="136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17168" y="4050000"/>
            <a:ext cx="4852528" cy="1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技术机会与课题目标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LLM 让交互从“填表单”变为“直接提问”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重构为单异步进程，外部服务失效可降级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80000" y="2090000"/>
            <a:ext cx="4496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三类工程困难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id="{7B2A3822-8B6F-4203-8B16-A1B83162FFD8}"/>
              </a:ext>
            </a:extLst>
          </p:cNvPr>
          <p:cNvGraphicFramePr>
            <a:graphicFrameLocks noGrp="1"/>
          </p:cNvGraphicFramePr>
          <p:nvPr/>
        </p:nvGraphicFramePr>
        <p:xfrm>
          <a:off x="6680000" y="2490000"/>
          <a:ext cx="4496000" cy="306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80000"/>
                <a:gridCol w="2050000"/>
                <a:gridCol w="1266000"/>
              </a:tblGrid>
              <a:tr h="42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1">
                          <a:solidFill>
                            <a:srgbClr val="F4F8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类别</a:t>
                      </a:r>
                    </a:p>
                  </a:txBody>
                  <a:tcPr marL="73152" marR="73152" marT="18288" marB="18288">
                    <a:solidFill>
                      <a:srgbClr val="1E40AF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1">
                          <a:solidFill>
                            <a:srgbClr val="F4F8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原型系统表现</a:t>
                      </a:r>
                    </a:p>
                  </a:txBody>
                  <a:tcPr marL="73152" marR="73152" marT="18288" marB="18288">
                    <a:solidFill>
                      <a:srgbClr val="1E40AF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1">
                          <a:solidFill>
                            <a:srgbClr val="F4F8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后果</a:t>
                      </a:r>
                    </a:p>
                  </a:txBody>
                  <a:tcPr marL="73152" marR="73152" marT="18288" marB="18288">
                    <a:solidFill>
                      <a:srgbClr val="1E40AF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88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架构整合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网关 + AI 服务 + 内存库三进程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数据无法统一查询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88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流式并发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链路混入同步阻塞调用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并发高耗尽线程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88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输出可控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模型自由文本 vs 前端固定字段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schema 偏离无法渲染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fast" advClick="1" p14:dur="400">
        <p:fade/>
      </p:transition>
    </mc:Choice>
    <mc:Fallback>
      <p:transition spd="fast" advClick="1">
        <p:fade/>
      </p:transition>
    </mc:Fallback>
  </mc:AlternateContent>
</p:sld>
</file>

<file path=ppt/slides/slide4.xml><?xml version="1.0" encoding="utf-8"?>
<p:sld xmlns:a="http://schemas.openxmlformats.org/drawingml/2006/main" xmlns:a16="http://schemas.microsoft.com/office/drawing/2014/main" xmlns:p="http://schemas.openxmlformats.org/presentationml/2006/main">
  <p:cSld>
    <p:bg>
      <p:bgPr>
        <a:solidFill>
          <a:srgbClr val="0B122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16000" y="500000"/>
            <a:ext cx="10160000" cy="6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在完整系统中检验两项工程方法，交付一套可运行系统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190000"/>
            <a:ext cx="101600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01　选题背景与意义　·　研究意义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6400000"/>
            <a:ext cx="10160000" cy="9525"/>
          </a:xfrm>
          <a:prstGeom prst="rect">
            <a:avLst/>
          </a:prstGeom>
          <a:solidFill>
            <a:srgbClr val="18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>
            <a:extLst>
              <a:ext uri="{FF2B5EF4-FFF2-40B4-BE49-F238E27FC236}">
                <a16:creationId id="{E7B2F25B-8CDB-46EF-97F5-1431B6445120}"/>
              </a:ext>
            </a:extLst>
          </p:cNvPr>
          <p:cNvSpPr txBox="1"/>
          <p:nvPr/>
        </p:nvSpPr>
        <p:spPr>
          <a:xfrm>
            <a:off x="9350000" y="6450000"/>
            <a:ext cx="1866000" cy="308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04 / 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6000" y="2090000"/>
            <a:ext cx="5200000" cy="174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17168" y="2190000"/>
            <a:ext cx="4852528" cy="1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理论意义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异构多后端向单进程异步整合的方法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LLM 结构化输出的可靠性保障方法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长对话的上下文成本控制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6000" y="3950000"/>
            <a:ext cx="5200000" cy="136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/>
          <p:nvPr/>
        </p:nvSpPr>
        <p:spPr>
          <a:xfrm>
            <a:off x="1217200" y="4050030"/>
            <a:ext cx="4852511" cy="1260062"/>
          </a:xfrm>
          <a:prstGeom prst="rect">
            <a:avLst/>
          </a:prstGeom>
          <a:noFill/>
          <a:ln>
            <a:noFill/>
          </a:ln>
        </p:spPr>
        <p:txBody>
          <a:bodyPr wrap="none" lIns="0" tIns="-5" rIns="0" bIns="0" anchor="t" anchorCtr="0">
            <a:noAutofit/>
          </a:bodyPr>
          <a:lstStyle/>
          <a:p>
            <a:pPr algn="l">
              <a:lnSpc>
                <a:spcPts val="2110"/>
              </a:lnSpc>
            </a:pPr>
            <a:r>
              <a:rPr lang="zh-CN" sz="19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技术机会与课题目标</a:t>
            </a:r>
          </a:p>
          <a:p>
            <a:pPr algn="l">
              <a:lnSpc>
                <a:spcPts val="2110"/>
              </a:lnSpc>
              <a:spcBef>
                <a:spcPts val="11"/>
              </a:spcBef>
            </a:pPr>
            <a:r>
              <a:rPr lang="zh-CN" sz="18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LLM 让交互从“填表单”变为“直接提问”</a:t>
            </a:r>
          </a:p>
          <a:p>
            <a:pPr algn="l">
              <a:lnSpc>
                <a:spcPts val="2110"/>
              </a:lnSpc>
            </a:pPr>
            <a:r>
              <a:rPr lang="zh-CN" sz="18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重构为单异步进程，外部服务失效可降级</a:t>
            </a:r>
          </a:p>
          <a:p>
            <a:pPr algn="l">
              <a:lnSpc>
                <a:spcPts val="2110"/>
              </a:lnSpc>
            </a:pPr>
            <a:r>
              <a:rPr lang="zh-CN" sz="18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本课题即针对上页三类工程困难而立题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80000" y="2090000"/>
            <a:ext cx="4496000" cy="250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pSp>
        <p:nvGrpSpPr>
          <p:cNvPr id="28" name="TextBox 10"/>
          <p:cNvGrpSpPr/>
          <p:nvPr/>
        </p:nvGrpSpPr>
        <p:grpSpPr>
          <a:xfrm>
            <a:off x="6871495" y="2189983"/>
            <a:ext cx="4158170" cy="2300007"/>
            <a:chOff x="6871495" y="2189983"/>
            <a:chExt cx="4158170" cy="2300007"/>
          </a:xfrm>
        </p:grpSpPr>
        <p:sp>
          <p:nvSpPr>
            <p:cNvPr id="23" name="Freeform 23"/>
            <p:cNvSpPr/>
            <p:nvPr/>
          </p:nvSpPr>
          <p:spPr>
            <a:xfrm>
              <a:off x="6881146" y="2189988"/>
              <a:ext cx="4148519" cy="2300002"/>
            </a:xfrm>
            <a:custGeom>
              <a:avLst/>
              <a:gdLst/>
              <a:ahLst/>
              <a:cxnLst/>
              <a:rect l="l" t="t" r="r" b="b"/>
              <a:pathLst>
                <a:path w="4148519" h="2300002">
                  <a:moveTo>
                    <a:pt x="0" y="0"/>
                  </a:moveTo>
                  <a:lnTo>
                    <a:pt x="4148519" y="0"/>
                  </a:lnTo>
                  <a:lnTo>
                    <a:pt x="4148519" y="2300002"/>
                  </a:lnTo>
                  <a:lnTo>
                    <a:pt x="0" y="2300002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71495" y="2189983"/>
              <a:ext cx="1042413" cy="3715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00" b="1" dirty="0">
                  <a:solidFill>
                    <a:srgbClr val="6FB1FF"/>
                  </a:solidFill>
                  <a:latin typeface="Microsoft YaHei"/>
                  <a:ea typeface="Microsoft YaHei"/>
                  <a:cs typeface="Microsoft YaHei"/>
                </a:rPr>
                <a:t>实践意义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72002" y="2518315"/>
              <a:ext cx="2544318" cy="6149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800" dirty="0">
                  <a:solidFill>
                    <a:srgbClr val="E8EEF9"/>
                  </a:solidFill>
                  <a:latin typeface="Microsoft YaHei"/>
                  <a:ea typeface="Microsoft YaHei"/>
                  <a:cs typeface="Microsoft YaHei"/>
                </a:rPr>
                <a:t>交付可运行多端系统：</a:t>
              </a:r>
              <a:br/>
              <a:r>
                <a:rPr lang="zh-CN" sz="1800" dirty="0">
                  <a:solidFill>
                    <a:srgbClr val="E8EEF9"/>
                  </a:solidFill>
                  <a:latin typeface="Microsoft YaHei"/>
                  <a:ea typeface="Microsoft YaHei"/>
                  <a:cs typeface="Microsoft YaHei"/>
                </a:rPr>
                <a:t>Web / H5 / 小程序 / App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72002" y="3094863"/>
              <a:ext cx="39438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EEF9"/>
                  </a:solidFill>
                  <a:latin typeface="Microsoft YaHei"/>
                  <a:ea typeface="Microsoft YaHei"/>
                  <a:cs typeface="Microsoft YaHei"/>
                </a:rPr>
                <a:t>记账由“事后补录”变为“对话式记录”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72002" y="3408521"/>
              <a:ext cx="37956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EEF9"/>
                  </a:solidFill>
                  <a:latin typeface="Microsoft YaHei"/>
                  <a:ea typeface="Microsoft YaHei"/>
                  <a:cs typeface="Microsoft YaHei"/>
                </a:rPr>
                <a:t>沉淀个人财务场景的 LLM 接入范式</a:t>
              </a: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6680000" y="4710000"/>
            <a:ext cx="4496000" cy="136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81168" y="4810000"/>
            <a:ext cx="4148528" cy="1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合规要求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收支数据属敏感个人信息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遵循《个人信息保护法》相关要求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fast" advClick="1" p14:dur="400">
        <p:fade/>
      </p:transition>
    </mc:Choice>
    <mc:Fallback>
      <p:transition spd="fast" advClick="1">
        <p:fade/>
      </p:transition>
    </mc:Fallback>
  </mc:AlternateContent>
</p:sld>
</file>

<file path=ppt/slides/slide5.xml><?xml version="1.0" encoding="utf-8"?>
<p:sld xmlns:a="http://schemas.openxmlformats.org/drawingml/2006/main" xmlns:a16="http://schemas.microsoft.com/office/drawing/2014/main" xmlns:p="http://schemas.openxmlformats.org/presentationml/2006/main">
  <p:cSld>
    <p:bg>
      <p:bgPr>
        <a:solidFill>
          <a:srgbClr val="0B122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16000" y="500000"/>
            <a:ext cx="10160000" cy="6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三条研究线：PFM 软件、LLM 理财应用、检索增强生成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190000"/>
            <a:ext cx="101600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02　国内外研究现状及发展趋势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6400000"/>
            <a:ext cx="10160000" cy="9525"/>
          </a:xfrm>
          <a:prstGeom prst="rect">
            <a:avLst/>
          </a:prstGeom>
          <a:solidFill>
            <a:srgbClr val="18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>
            <a:extLst>
              <a:ext uri="{FF2B5EF4-FFF2-40B4-BE49-F238E27FC236}">
                <a16:creationId id="{E16A6901-BAED-4B57-B2F3-0A4E25987824}"/>
              </a:ext>
            </a:extLst>
          </p:cNvPr>
          <p:cNvSpPr txBox="1"/>
          <p:nvPr/>
        </p:nvSpPr>
        <p:spPr>
          <a:xfrm>
            <a:off x="9350000" y="6450000"/>
            <a:ext cx="1866000" cy="308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05 / 23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id="{C22DBFC0-C258-4850-BF16-0A45C34AA61A}"/>
              </a:ext>
            </a:extLst>
          </p:cNvPr>
          <p:cNvGraphicFramePr>
            <a:graphicFrameLocks noGrp="1"/>
          </p:cNvGraphicFramePr>
          <p:nvPr/>
        </p:nvGraphicFramePr>
        <p:xfrm>
          <a:off x="1016000" y="2090000"/>
          <a:ext cx="10160000" cy="299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50000"/>
                <a:gridCol w="3050000"/>
                <a:gridCol w="4960000"/>
              </a:tblGrid>
              <a:tr h="44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1">
                          <a:solidFill>
                            <a:srgbClr val="F4F8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研究方向</a:t>
                      </a:r>
                    </a:p>
                  </a:txBody>
                  <a:tcPr marL="73152" marR="73152" marT="18288" marB="18288">
                    <a:solidFill>
                      <a:srgbClr val="1E40AF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1">
                          <a:solidFill>
                            <a:srgbClr val="F4F8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代表性工作</a:t>
                      </a:r>
                    </a:p>
                  </a:txBody>
                  <a:tcPr marL="73152" marR="73152" marT="18288" marB="18288">
                    <a:solidFill>
                      <a:srgbClr val="1E40AF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1">
                          <a:solidFill>
                            <a:srgbClr val="F4F8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评述与局限</a:t>
                      </a:r>
                    </a:p>
                  </a:txBody>
                  <a:tcPr marL="73152" marR="73152" marT="18288" marB="18288">
                    <a:solidFill>
                      <a:srgbClr val="1E40AF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85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个人财务管理软件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Mint、YNAB；随手记、鲨鱼记账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重记录轻解释；多端逻辑重复实现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85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LLM 在个人理财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BloombergGPT[8]、FinGPT[9]、CFB[11]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缺用户级个性化上下文；自由文本难驱动界面渲染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85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检索增强生成 RAG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Lewis 等 RAG[16]、稠密段落检索 DPR[17]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检索与索引研究充分，服务降级讨论薄弱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1016000" y="5170000"/>
            <a:ext cx="10160000" cy="526304"/>
          </a:xfrm>
          <a:prstGeom prst="rect">
            <a:avLst/>
          </a:prstGeom>
          <a:solidFill>
            <a:srgbClr val="0D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7168" y="5243152"/>
            <a:ext cx="9757664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共同判断：个人理财更适合“通用模型 + 个性化上下文”，而非训练领域专用模型。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fast" advClick="1" p14:dur="400">
        <p:fade/>
      </p:transition>
    </mc:Choice>
    <mc:Fallback>
      <p:transition spd="fast" advClick="1">
        <p:fade/>
      </p:transition>
    </mc:Fallback>
  </mc:AlternateContent>
</p:sld>
</file>

<file path=ppt/slides/slide6.xml><?xml version="1.0" encoding="utf-8"?>
<p:sld xmlns:a="http://schemas.openxmlformats.org/drawingml/2006/main" xmlns:a16="http://schemas.microsoft.com/office/drawing/2014/main" xmlns:p="http://schemas.openxmlformats.org/presentationml/2006/main">
  <p:cSld>
    <p:bg>
      <p:bgPr>
        <a:solidFill>
          <a:srgbClr val="0B122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16000" y="500000"/>
            <a:ext cx="10160000" cy="6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三处研究不足，对应本文三个切入点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190000"/>
            <a:ext cx="101600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02　国内外研究现状　·　现有研究的不足与本文的切入点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6400000"/>
            <a:ext cx="10160000" cy="9525"/>
          </a:xfrm>
          <a:prstGeom prst="rect">
            <a:avLst/>
          </a:prstGeom>
          <a:solidFill>
            <a:srgbClr val="18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>
            <a:extLst>
              <a:ext uri="{FF2B5EF4-FFF2-40B4-BE49-F238E27FC236}">
                <a16:creationId id="{45910A8C-2689-48D0-BF9E-435CF247874F}"/>
              </a:ext>
            </a:extLst>
          </p:cNvPr>
          <p:cNvSpPr txBox="1"/>
          <p:nvPr/>
        </p:nvSpPr>
        <p:spPr>
          <a:xfrm>
            <a:off x="9350000" y="6450000"/>
            <a:ext cx="1866000" cy="308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06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2090000"/>
            <a:ext cx="52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现有研究的不足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80000" y="2090000"/>
            <a:ext cx="4496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本文的切入点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6000" y="2510000"/>
            <a:ext cx="5200000" cy="94288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80000" y="2510000"/>
            <a:ext cx="4496000" cy="94288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>
            <a:extLst>
              <a:ext uri="{FF2B5EF4-FFF2-40B4-BE49-F238E27FC236}">
                <a16:creationId id="{88648850-C53C-4898-99FA-BAF4E0443FD5}"/>
              </a:ext>
            </a:extLst>
          </p:cNvPr>
          <p:cNvSpPr txBox="1"/>
          <p:nvPr/>
        </p:nvSpPr>
        <p:spPr>
          <a:xfrm>
            <a:off x="1180592" y="2601440"/>
            <a:ext cx="4870816" cy="1003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不足 1　PFM 研究偏重功能与界面，架构整合讨论少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[1][2]</a:t>
            </a:r>
          </a:p>
        </p:txBody>
      </p:sp>
      <p:sp>
        <p:nvSpPr>
          <p:cNvPr id="11" name="TextBox 10">
            <a:extLst>
              <a:ext uri="{FF2B5EF4-FFF2-40B4-BE49-F238E27FC236}">
                <a16:creationId id="{FDA28DA3-BCEA-435E-BCAA-86CA79C8C98E}"/>
              </a:ext>
            </a:extLst>
          </p:cNvPr>
          <p:cNvSpPr txBox="1"/>
          <p:nvPr/>
        </p:nvSpPr>
        <p:spPr>
          <a:xfrm>
            <a:off x="6844592" y="2601440"/>
            <a:ext cx="4166816" cy="6944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切入点 1　以记账系统为载体，整合到单异步进程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234288" y="2891440"/>
            <a:ext cx="420624" cy="180000"/>
          </a:xfrm>
          <a:prstGeom prst="rightArrow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16000" y="3562880"/>
            <a:ext cx="5200000" cy="94288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80000" y="3562880"/>
            <a:ext cx="4496000" cy="94288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>
            <a:extLst>
              <a:ext uri="{FF2B5EF4-FFF2-40B4-BE49-F238E27FC236}">
                <a16:creationId id="{034DB552-DF89-4A0E-8985-1DEAF37E98F1}"/>
              </a:ext>
            </a:extLst>
          </p:cNvPr>
          <p:cNvSpPr txBox="1"/>
          <p:nvPr/>
        </p:nvSpPr>
        <p:spPr>
          <a:xfrm>
            <a:off x="1180592" y="3654320"/>
            <a:ext cx="4870816" cy="1003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不足 2　“模型能生成”与“程序能用”之间存在断层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[15][25]</a:t>
            </a:r>
          </a:p>
        </p:txBody>
      </p:sp>
      <p:sp>
        <p:nvSpPr>
          <p:cNvPr id="16" name="TextBox 15">
            <a:extLst>
              <a:ext uri="{FF2B5EF4-FFF2-40B4-BE49-F238E27FC236}">
                <a16:creationId id="{D9624120-F8DC-4BEA-88ED-1C1FB2DB295F}"/>
              </a:ext>
            </a:extLst>
          </p:cNvPr>
          <p:cNvSpPr txBox="1"/>
          <p:nvPr/>
        </p:nvSpPr>
        <p:spPr>
          <a:xfrm>
            <a:off x="6844592" y="3654320"/>
            <a:ext cx="4166816" cy="6944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切入点 2　研究输出的约束、校验与降级机制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234288" y="3944320"/>
            <a:ext cx="420624" cy="180000"/>
          </a:xfrm>
          <a:prstGeom prst="rightArrow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16000" y="4615760"/>
            <a:ext cx="5200000" cy="94288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80000" y="4615760"/>
            <a:ext cx="4496000" cy="94288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>
            <a:extLst>
              <a:ext uri="{FF2B5EF4-FFF2-40B4-BE49-F238E27FC236}">
                <a16:creationId id="{E566D4B8-D2D1-40A3-AC69-9F8A70693894}"/>
              </a:ext>
            </a:extLst>
          </p:cNvPr>
          <p:cNvSpPr txBox="1"/>
          <p:nvPr/>
        </p:nvSpPr>
        <p:spPr>
          <a:xfrm>
            <a:off x="1180592" y="4707200"/>
            <a:ext cx="4870816" cy="687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不足 3　RAG 对服务降级下的可用性关注不足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[18][19]</a:t>
            </a:r>
          </a:p>
        </p:txBody>
      </p:sp>
      <p:sp>
        <p:nvSpPr>
          <p:cNvPr id="21" name="TextBox 20">
            <a:extLst>
              <a:ext uri="{FF2B5EF4-FFF2-40B4-BE49-F238E27FC236}">
                <a16:creationId id="{3DCD7867-D08B-49B2-B62E-7ACFD1782003}"/>
              </a:ext>
            </a:extLst>
          </p:cNvPr>
          <p:cNvSpPr txBox="1"/>
          <p:nvPr/>
        </p:nvSpPr>
        <p:spPr>
          <a:xfrm>
            <a:off x="6844592" y="4707200"/>
            <a:ext cx="4166816" cy="6944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切入点 3　设计关键词降级，向量失效仍可返回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234288" y="4997200"/>
            <a:ext cx="420624" cy="180000"/>
          </a:xfrm>
          <a:prstGeom prst="rightArrow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fast" advClick="1" p14:dur="400">
        <p:fade/>
      </p:transition>
    </mc:Choice>
    <mc:Fallback>
      <p:transition spd="fast" advClick="1">
        <p:fade/>
      </p:transition>
    </mc:Fallback>
  </mc:AlternateContent>
</p:sld>
</file>

<file path=ppt/slides/slide7.xml><?xml version="1.0" encoding="utf-8"?>
<p:sld xmlns:a="http://schemas.openxmlformats.org/drawingml/2006/main" xmlns:a16="http://schemas.microsoft.com/office/drawing/2014/main" xmlns:p="http://schemas.openxmlformats.org/presentationml/2006/main">
  <p:cSld>
    <p:bg>
      <p:bgPr>
        <a:solidFill>
          <a:srgbClr val="0B122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16000" y="500000"/>
            <a:ext cx="10160000" cy="6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三项研究目标，各附一条可核验的验收口径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190000"/>
            <a:ext cx="101600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03　研究目标、研究内容与拟解决的关键问题　·　研究目标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6400000"/>
            <a:ext cx="10160000" cy="9525"/>
          </a:xfrm>
          <a:prstGeom prst="rect">
            <a:avLst/>
          </a:prstGeom>
          <a:solidFill>
            <a:srgbClr val="18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>
            <a:extLst>
              <a:ext uri="{FF2B5EF4-FFF2-40B4-BE49-F238E27FC236}">
                <a16:creationId id="{0E95576E-4D8E-4B88-A598-E59100B97B51}"/>
              </a:ext>
            </a:extLst>
          </p:cNvPr>
          <p:cNvSpPr txBox="1"/>
          <p:nvPr/>
        </p:nvSpPr>
        <p:spPr>
          <a:xfrm>
            <a:off x="9350000" y="6450000"/>
            <a:ext cx="1866000" cy="308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07 / 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6000" y="2090000"/>
            <a:ext cx="10160000" cy="96288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17168" y="2181440"/>
            <a:ext cx="9757664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目标一　多端应用覆盖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7168" y="2581440"/>
            <a:ext cx="9757664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桌面与移动应用，移动端可编译为 H5、微信小程序与 App，两端共用同一后端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6000" y="3182880"/>
            <a:ext cx="10160000" cy="96288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7168" y="3274320"/>
            <a:ext cx="9757664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目标二　四项智能化能力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7168" y="3674320"/>
            <a:ext cx="9757664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SSE 流式问答、结构化消费分析、预算规划（50/30/20 参考）、检索增强 FAQ 问答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6000" y="4275760"/>
            <a:ext cx="10160000" cy="96288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7168" y="4367200"/>
            <a:ext cx="9757664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目标三　架构重构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7168" y="4767200"/>
            <a:ext cx="9757664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多进程异构收敛为单个 FastAPI 全异步进程，会话数据并入统一关系库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16000" y="5368640"/>
            <a:ext cx="10160000" cy="906304"/>
          </a:xfrm>
          <a:prstGeom prst="rect">
            <a:avLst/>
          </a:prstGeom>
          <a:solidFill>
            <a:srgbClr val="0D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>
            <a:extLst>
              <a:ext uri="{FF2B5EF4-FFF2-40B4-BE49-F238E27FC236}">
                <a16:creationId id="{BAC52657-81D4-4D5E-B4F0-4ED7046CFD21}"/>
              </a:ext>
            </a:extLst>
          </p:cNvPr>
          <p:cNvSpPr txBox="1"/>
          <p:nvPr/>
        </p:nvSpPr>
        <p:spPr>
          <a:xfrm>
            <a:off x="1217168" y="5441792"/>
            <a:ext cx="9757664" cy="6944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1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验收口径：</a:t>
            </a:r>
            <a:r>
              <a:rPr sz="1800" b="1">
                <a:solidFill>
                  <a:srgbClr val="FBBF24"/>
                </a:solidFill>
                <a:latin typeface="微软雅黑"/>
                <a:ea typeface="微软雅黑"/>
                <a:cs typeface="微软雅黑"/>
              </a:rPr>
              <a:t>非法结果落库数为零</a:t>
            </a: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；向量服务失效时问答链路仍</a:t>
            </a:r>
            <a:r>
              <a:rPr sz="1800" b="1">
                <a:solidFill>
                  <a:srgbClr val="FBBF24"/>
                </a:solidFill>
                <a:latin typeface="微软雅黑"/>
                <a:ea typeface="微软雅黑"/>
                <a:cs typeface="微软雅黑"/>
              </a:rPr>
              <a:t>非空返回</a:t>
            </a: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；并发重复记账</a:t>
            </a:r>
            <a:r>
              <a:rPr sz="1800" b="1">
                <a:solidFill>
                  <a:srgbClr val="FBBF24"/>
                </a:solidFill>
                <a:latin typeface="微软雅黑"/>
                <a:ea typeface="微软雅黑"/>
                <a:cs typeface="微软雅黑"/>
              </a:rPr>
              <a:t>只产生一条记录</a:t>
            </a:r>
            <a:r>
              <a:rPr sz="1800" b="1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fast" advClick="1" p14:dur="400">
        <p:fade/>
      </p:transition>
    </mc:Choice>
    <mc:Fallback>
      <p:transition spd="fast" advClick="1">
        <p:fade/>
      </p:transition>
    </mc:Fallback>
  </mc:AlternateContent>
</p:sld>
</file>

<file path=ppt/slides/slide8.xml><?xml version="1.0" encoding="utf-8"?>
<p:sld xmlns:a="http://schemas.openxmlformats.org/drawingml/2006/main" xmlns:a16="http://schemas.microsoft.com/office/drawing/2014/main" xmlns:p="http://schemas.openxmlformats.org/presentationml/2006/main">
  <p:cSld>
    <p:bg>
      <p:bgPr>
        <a:solidFill>
          <a:srgbClr val="0B122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16000" y="500000"/>
            <a:ext cx="10160000" cy="6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客户端 / 服务端 / 数据层三层，功能划分为十个模块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190000"/>
            <a:ext cx="101600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03　研究目标与内容　·　研究内容与系统构成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6400000"/>
            <a:ext cx="10160000" cy="9525"/>
          </a:xfrm>
          <a:prstGeom prst="rect">
            <a:avLst/>
          </a:prstGeom>
          <a:solidFill>
            <a:srgbClr val="18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>
            <a:extLst>
              <a:ext uri="{FF2B5EF4-FFF2-40B4-BE49-F238E27FC236}">
                <a16:creationId id="{A3DCEA6A-7D4A-4749-8654-3DB002583536}"/>
              </a:ext>
            </a:extLst>
          </p:cNvPr>
          <p:cNvSpPr txBox="1"/>
          <p:nvPr/>
        </p:nvSpPr>
        <p:spPr>
          <a:xfrm>
            <a:off x="9350000" y="6450000"/>
            <a:ext cx="1866000" cy="308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08 / 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6000" y="2090000"/>
            <a:ext cx="5200000" cy="136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17168" y="2190000"/>
            <a:ext cx="4852528" cy="1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客户端层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Web 端 15 页：用户侧 9 个 + 后台 6 个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移动端 12 页：登录、概览、账单、AI 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6000" y="3560000"/>
            <a:ext cx="5200000" cy="136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17168" y="3660000"/>
            <a:ext cx="4852528" cy="1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服务层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八组路由共 57 个接口（业务 38 + AI 19）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另设 1 个健康检查接口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6000" y="5030000"/>
            <a:ext cx="5200000" cy="98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17168" y="5130000"/>
            <a:ext cx="4852528" cy="7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数据层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MySQL 单库 14 张表，InnoDB + utf8mb4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0000" y="2090000"/>
            <a:ext cx="4496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十个功能模块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80000" y="2510000"/>
            <a:ext cx="2200000" cy="47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>
            <a:extLst>
              <a:ext uri="{FF2B5EF4-FFF2-40B4-BE49-F238E27FC236}">
                <a16:creationId id="{FB1A03AC-9604-4A28-8419-CF8A554DFED4}"/>
              </a:ext>
            </a:extLst>
          </p:cNvPr>
          <p:cNvSpPr txBox="1"/>
          <p:nvPr/>
        </p:nvSpPr>
        <p:spPr>
          <a:xfrm>
            <a:off x="6675225" y="2516120"/>
            <a:ext cx="2199321" cy="3714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用户管理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0000" y="2510000"/>
            <a:ext cx="2200000" cy="47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>
            <a:extLst>
              <a:ext uri="{FF2B5EF4-FFF2-40B4-BE49-F238E27FC236}">
                <a16:creationId id="{EAB9D568-37E6-47BC-A127-AF97B063D823}"/>
              </a:ext>
            </a:extLst>
          </p:cNvPr>
          <p:cNvSpPr txBox="1"/>
          <p:nvPr/>
        </p:nvSpPr>
        <p:spPr>
          <a:xfrm>
            <a:off x="9001125" y="2516120"/>
            <a:ext cx="2199321" cy="3714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收支分类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80000" y="3070000"/>
            <a:ext cx="2200000" cy="47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>
            <a:extLst>
              <a:ext uri="{FF2B5EF4-FFF2-40B4-BE49-F238E27FC236}">
                <a16:creationId id="{4A19CCC4-922E-481F-9017-3209C9B1B841}"/>
              </a:ext>
            </a:extLst>
          </p:cNvPr>
          <p:cNvSpPr txBox="1"/>
          <p:nvPr/>
        </p:nvSpPr>
        <p:spPr>
          <a:xfrm>
            <a:off x="6675225" y="3054345"/>
            <a:ext cx="2199321" cy="3714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账单记录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0000" y="3070000"/>
            <a:ext cx="2200000" cy="47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>
            <a:extLst>
              <a:ext uri="{FF2B5EF4-FFF2-40B4-BE49-F238E27FC236}">
                <a16:creationId id="{A20308B1-FEA2-415C-A238-2AC0B8835C6B}"/>
              </a:ext>
            </a:extLst>
          </p:cNvPr>
          <p:cNvSpPr txBox="1"/>
          <p:nvPr/>
        </p:nvSpPr>
        <p:spPr>
          <a:xfrm>
            <a:off x="9001125" y="3054345"/>
            <a:ext cx="2199321" cy="3714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统计分析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80000" y="3630000"/>
            <a:ext cx="2200000" cy="47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>
            <a:extLst>
              <a:ext uri="{FF2B5EF4-FFF2-40B4-BE49-F238E27FC236}">
                <a16:creationId id="{8D4EA2B8-CF72-42EF-B05B-DFB3682F6792}"/>
              </a:ext>
            </a:extLst>
          </p:cNvPr>
          <p:cNvSpPr txBox="1"/>
          <p:nvPr/>
        </p:nvSpPr>
        <p:spPr>
          <a:xfrm>
            <a:off x="6675225" y="3600450"/>
            <a:ext cx="2199321" cy="3714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AI 智能对话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0000" y="3630000"/>
            <a:ext cx="2200000" cy="47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>
            <a:extLst>
              <a:ext uri="{FF2B5EF4-FFF2-40B4-BE49-F238E27FC236}">
                <a16:creationId id="{5107F18F-9B98-4D2D-8E3B-BF4F49BA0336}"/>
              </a:ext>
            </a:extLst>
          </p:cNvPr>
          <p:cNvSpPr txBox="1"/>
          <p:nvPr/>
        </p:nvSpPr>
        <p:spPr>
          <a:xfrm>
            <a:off x="9001125" y="3600450"/>
            <a:ext cx="2199321" cy="3714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AI 记账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80000" y="4190000"/>
            <a:ext cx="2200000" cy="47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>
            <a:extLst>
              <a:ext uri="{FF2B5EF4-FFF2-40B4-BE49-F238E27FC236}">
                <a16:creationId id="{7735653A-EBB0-4F77-A556-88457D82C18E}"/>
              </a:ext>
            </a:extLst>
          </p:cNvPr>
          <p:cNvSpPr txBox="1"/>
          <p:nvPr/>
        </p:nvSpPr>
        <p:spPr>
          <a:xfrm>
            <a:off x="6675225" y="4152135"/>
            <a:ext cx="2199321" cy="3714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消费分析与预算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00000" y="4190000"/>
            <a:ext cx="2200000" cy="47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>
            <a:extLst>
              <a:ext uri="{FF2B5EF4-FFF2-40B4-BE49-F238E27FC236}">
                <a16:creationId id="{EC030856-5708-4C78-9199-4B4BA5D2D789}"/>
              </a:ext>
            </a:extLst>
          </p:cNvPr>
          <p:cNvSpPr txBox="1"/>
          <p:nvPr/>
        </p:nvSpPr>
        <p:spPr>
          <a:xfrm>
            <a:off x="9001125" y="4152135"/>
            <a:ext cx="2199321" cy="3714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FAQ 知识库检索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id="{CC4F7F64-8781-4EB0-A1A7-94E5BF302407}"/>
              </a:ext>
            </a:extLst>
          </p:cNvPr>
          <p:cNvSpPr/>
          <p:nvPr/>
        </p:nvSpPr>
        <p:spPr>
          <a:xfrm>
            <a:off x="6675225" y="4753475"/>
            <a:ext cx="2199321" cy="466725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>
            <a:extLst>
              <a:ext uri="{FF2B5EF4-FFF2-40B4-BE49-F238E27FC236}">
                <a16:creationId id="{F2F63D12-5E09-409E-8E6D-C9277D243926}"/>
              </a:ext>
            </a:extLst>
          </p:cNvPr>
          <p:cNvSpPr txBox="1"/>
          <p:nvPr/>
        </p:nvSpPr>
        <p:spPr>
          <a:xfrm>
            <a:off x="6675225" y="4864725"/>
            <a:ext cx="2199321" cy="3714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管理后台</a:t>
            </a:r>
          </a:p>
        </p:txBody>
      </p:sp>
      <p:sp>
        <p:nvSpPr>
          <p:cNvPr id="90" name="Rounded Rectangle 90">
            <a:extLst>
              <a:ext uri="{FF2B5EF4-FFF2-40B4-BE49-F238E27FC236}">
                <a16:creationId id="{CC4F7F64-8781-4EB0-A1A7-94E5BF302407}"/>
              </a:ext>
            </a:extLst>
          </p:cNvPr>
          <p:cNvSpPr/>
          <p:nvPr/>
        </p:nvSpPr>
        <p:spPr>
          <a:xfrm>
            <a:off x="8997696" y="4754880"/>
            <a:ext cx="2203704" cy="466344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TextBox 91">
            <a:extLst>
              <a:ext uri="{FF2B5EF4-FFF2-40B4-BE49-F238E27FC236}">
                <a16:creationId id="{F2F63D12-5E09-409E-8E6D-C9277D243926}"/>
              </a:ext>
            </a:extLst>
          </p:cNvPr>
          <p:cNvSpPr txBox="1"/>
          <p:nvPr/>
        </p:nvSpPr>
        <p:spPr>
          <a:xfrm>
            <a:off x="8997696" y="4800600"/>
            <a:ext cx="2203704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会员与充值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fast" advClick="1" p14:dur="400">
        <p:fade/>
      </p:transition>
    </mc:Choice>
    <mc:Fallback>
      <p:transition spd="fast" advClick="1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/>
          <p:nvPr/>
        </p:nvSpPr>
        <p:spPr>
          <a:xfrm>
            <a:off x="1019175" y="495300"/>
            <a:ext cx="1016317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-5" rIns="0" bIns="0" anchor="t" anchorCtr="0">
            <a:noAutofit/>
          </a:bodyPr>
          <a:lstStyle/>
          <a:p>
            <a:pPr algn="l"/>
            <a:r>
              <a:rPr lang="zh-CN" sz="2800" b="1" dirty="0">
                <a:solidFill>
                  <a:srgbClr val="6FB1FF"/>
                </a:solidFill>
                <a:latin typeface="微软雅黑"/>
                <a:ea typeface="Microsoft YaHei"/>
                <a:cs typeface="微软雅黑"/>
              </a:rPr>
              <a:t>拟解决的关键问题九项，覆盖架构、AI 链路与支付安全</a:t>
            </a:r>
          </a:p>
        </p:txBody>
      </p:sp>
      <p:sp>
        <p:nvSpPr>
          <p:cNvPr id="4" name="TextBox 4"/>
          <p:cNvSpPr/>
          <p:nvPr/>
        </p:nvSpPr>
        <p:spPr>
          <a:xfrm>
            <a:off x="1019175" y="1238250"/>
            <a:ext cx="1016317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800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03　研究目标与内容　·　拟解决的关键问题 1—9</a:t>
            </a:r>
          </a:p>
        </p:txBody>
      </p:sp>
      <p:sp>
        <p:nvSpPr>
          <p:cNvPr id="5" name="Shape 5"/>
          <p:cNvSpPr/>
          <p:nvPr/>
        </p:nvSpPr>
        <p:spPr>
          <a:xfrm>
            <a:off x="1019175" y="6400800"/>
            <a:ext cx="10163175" cy="9525"/>
          </a:xfrm>
          <a:prstGeom prst="rect">
            <a:avLst/>
          </a:prstGeom>
          <a:noFill/>
          <a:ln w="12700">
            <a:solidFill>
              <a:srgbClr val="2639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9753600" y="6448425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r"/>
            <a:r>
              <a:rPr lang="en-US" sz="1400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09 / 23</a:t>
            </a:r>
          </a:p>
        </p:txBody>
      </p:sp>
      <p:sp>
        <p:nvSpPr>
          <p:cNvPr id="7" name="Shape 7"/>
          <p:cNvSpPr/>
          <p:nvPr/>
        </p:nvSpPr>
        <p:spPr>
          <a:xfrm>
            <a:off x="1019175" y="1828800"/>
            <a:ext cx="4953000" cy="932688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/>
          <p:cNvSpPr/>
          <p:nvPr/>
        </p:nvSpPr>
        <p:spPr>
          <a:xfrm>
            <a:off x="1162050" y="1883664"/>
            <a:ext cx="285750" cy="28575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1162050" y="1911095"/>
            <a:ext cx="2857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ctr"/>
            <a:r>
              <a:rPr lang="en-US" sz="1400" b="1" dirty="0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TextBox 10"/>
          <p:cNvSpPr/>
          <p:nvPr/>
        </p:nvSpPr>
        <p:spPr>
          <a:xfrm>
            <a:off x="1524000" y="1911095"/>
            <a:ext cx="457200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zh-CN" sz="1700" b="1" dirty="0">
                <a:solidFill>
                  <a:srgbClr val="6FB1FF"/>
                </a:solidFill>
                <a:latin typeface="Microsoft YaHei"/>
                <a:ea typeface="Microsoft YaHei"/>
                <a:cs typeface="Microsoft YaHei"/>
              </a:rPr>
              <a:t>异构多后端→单进程全异步整合</a:t>
            </a:r>
          </a:p>
        </p:txBody>
      </p:sp>
      <p:sp>
        <p:nvSpPr>
          <p:cNvPr id="11" name="TextBox 11"/>
          <p:cNvSpPr/>
          <p:nvPr/>
        </p:nvSpPr>
        <p:spPr>
          <a:xfrm>
            <a:off x="1162050" y="2194560"/>
            <a:ext cx="45720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1575"/>
              </a:lnSpc>
            </a:pPr>
            <a:r>
              <a:rPr lang="zh-CN" sz="15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AI 由独立进程转为进程内调用</a:t>
            </a:r>
          </a:p>
          <a:p>
            <a:pPr algn="l">
              <a:lnSpc>
                <a:spcPts val="1575"/>
              </a:lnSpc>
            </a:pPr>
            <a:r>
              <a:rPr lang="zh-CN" sz="15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会话数据并入关系库，重设异步访问层</a:t>
            </a:r>
          </a:p>
        </p:txBody>
      </p:sp>
      <p:sp>
        <p:nvSpPr>
          <p:cNvPr id="12" name="Shape 12"/>
          <p:cNvSpPr/>
          <p:nvPr/>
        </p:nvSpPr>
        <p:spPr>
          <a:xfrm>
            <a:off x="1019175" y="2834640"/>
            <a:ext cx="4953000" cy="932688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Shape 13"/>
          <p:cNvSpPr/>
          <p:nvPr/>
        </p:nvSpPr>
        <p:spPr>
          <a:xfrm>
            <a:off x="1162050" y="2889504"/>
            <a:ext cx="285750" cy="28575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/>
          <p:cNvSpPr/>
          <p:nvPr/>
        </p:nvSpPr>
        <p:spPr>
          <a:xfrm>
            <a:off x="1162050" y="2916936"/>
            <a:ext cx="2857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ctr"/>
            <a:r>
              <a:rPr lang="en-US" sz="1400" b="1" dirty="0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TextBox 15"/>
          <p:cNvSpPr/>
          <p:nvPr/>
        </p:nvSpPr>
        <p:spPr>
          <a:xfrm>
            <a:off x="1524000" y="2916936"/>
            <a:ext cx="457200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zh-CN" sz="1700" b="1" dirty="0">
                <a:solidFill>
                  <a:srgbClr val="6FB1FF"/>
                </a:solidFill>
                <a:latin typeface="Microsoft YaHei"/>
                <a:ea typeface="Microsoft YaHei"/>
                <a:cs typeface="Microsoft YaHei"/>
              </a:rPr>
              <a:t>前端零改动的接口契约约束</a:t>
            </a:r>
          </a:p>
        </p:txBody>
      </p:sp>
      <p:sp>
        <p:nvSpPr>
          <p:cNvPr id="16" name="TextBox 16"/>
          <p:cNvSpPr/>
          <p:nvPr/>
        </p:nvSpPr>
        <p:spPr>
          <a:xfrm>
            <a:off x="1162050" y="3200400"/>
            <a:ext cx="45720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1575"/>
              </a:lnSpc>
            </a:pPr>
            <a:r>
              <a:rPr lang="zh-CN" sz="15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路径与响应结构不得更改，业务信封</a:t>
            </a:r>
          </a:p>
          <a:p>
            <a:pPr algn="l">
              <a:lnSpc>
                <a:spcPts val="1575"/>
              </a:lnSpc>
            </a:pPr>
            <a:r>
              <a:rPr lang="zh-CN" sz="15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{code,message,data}；AI 流式接口裸返回</a:t>
            </a:r>
          </a:p>
        </p:txBody>
      </p:sp>
      <p:sp>
        <p:nvSpPr>
          <p:cNvPr id="17" name="Shape 17"/>
          <p:cNvSpPr/>
          <p:nvPr/>
        </p:nvSpPr>
        <p:spPr>
          <a:xfrm>
            <a:off x="1019175" y="3840480"/>
            <a:ext cx="4953000" cy="932688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Shape 18"/>
          <p:cNvSpPr/>
          <p:nvPr/>
        </p:nvSpPr>
        <p:spPr>
          <a:xfrm>
            <a:off x="1162050" y="3895344"/>
            <a:ext cx="285750" cy="28575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/>
          <p:cNvSpPr/>
          <p:nvPr/>
        </p:nvSpPr>
        <p:spPr>
          <a:xfrm>
            <a:off x="1162050" y="3922776"/>
            <a:ext cx="2857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ctr"/>
            <a:r>
              <a:rPr lang="en-US" sz="1400" b="1" dirty="0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TextBox 20"/>
          <p:cNvSpPr/>
          <p:nvPr/>
        </p:nvSpPr>
        <p:spPr>
          <a:xfrm>
            <a:off x="1524000" y="3922776"/>
            <a:ext cx="457200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zh-CN" sz="1700" b="1" dirty="0">
                <a:solidFill>
                  <a:srgbClr val="6FB1FF"/>
                </a:solidFill>
                <a:latin typeface="Microsoft YaHei"/>
                <a:ea typeface="Microsoft YaHei"/>
                <a:cs typeface="Microsoft YaHei"/>
              </a:rPr>
              <a:t>SSE 流式输出全链路异步化</a:t>
            </a:r>
          </a:p>
        </p:txBody>
      </p:sp>
      <p:sp>
        <p:nvSpPr>
          <p:cNvPr id="21" name="TextBox 21"/>
          <p:cNvSpPr/>
          <p:nvPr/>
        </p:nvSpPr>
        <p:spPr>
          <a:xfrm>
            <a:off x="1162050" y="4206240"/>
            <a:ext cx="45720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1575"/>
              </a:lnSpc>
            </a:pPr>
            <a:r>
              <a:rPr lang="zh-CN" sz="15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库访问、模型调用与转发全程异步</a:t>
            </a:r>
          </a:p>
          <a:p>
            <a:pPr algn="l">
              <a:lnSpc>
                <a:spcPts val="1575"/>
              </a:lnSpc>
            </a:pPr>
            <a:r>
              <a:rPr lang="zh-CN" sz="15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任一阻塞都会拖垮单进程</a:t>
            </a:r>
          </a:p>
        </p:txBody>
      </p:sp>
      <p:sp>
        <p:nvSpPr>
          <p:cNvPr id="22" name="Shape 22"/>
          <p:cNvSpPr/>
          <p:nvPr/>
        </p:nvSpPr>
        <p:spPr>
          <a:xfrm>
            <a:off x="1019175" y="4846320"/>
            <a:ext cx="4953000" cy="932688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Shape 23"/>
          <p:cNvSpPr/>
          <p:nvPr/>
        </p:nvSpPr>
        <p:spPr>
          <a:xfrm>
            <a:off x="1162050" y="4901183"/>
            <a:ext cx="285750" cy="28575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4" name="TextBox 24"/>
          <p:cNvSpPr/>
          <p:nvPr/>
        </p:nvSpPr>
        <p:spPr>
          <a:xfrm>
            <a:off x="1162050" y="4928616"/>
            <a:ext cx="2857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ctr"/>
            <a:r>
              <a:rPr lang="en-US" sz="1400" b="1" dirty="0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TextBox 25"/>
          <p:cNvSpPr/>
          <p:nvPr/>
        </p:nvSpPr>
        <p:spPr>
          <a:xfrm>
            <a:off x="1524000" y="4928616"/>
            <a:ext cx="457200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zh-CN" sz="1700" b="1" dirty="0">
                <a:solidFill>
                  <a:srgbClr val="6FB1FF"/>
                </a:solidFill>
                <a:latin typeface="Microsoft YaHei"/>
                <a:ea typeface="Microsoft YaHei"/>
                <a:cs typeface="Microsoft YaHei"/>
              </a:rPr>
              <a:t>大模型结构化输出的可靠性</a:t>
            </a:r>
          </a:p>
        </p:txBody>
      </p:sp>
      <p:sp>
        <p:nvSpPr>
          <p:cNvPr id="26" name="TextBox 26"/>
          <p:cNvSpPr/>
          <p:nvPr/>
        </p:nvSpPr>
        <p:spPr>
          <a:xfrm>
            <a:off x="1162050" y="5212080"/>
            <a:ext cx="45720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1575"/>
              </a:lnSpc>
            </a:pPr>
            <a:r>
              <a:rPr lang="zh-CN" sz="15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模式约束 + Pydantic 校验</a:t>
            </a:r>
          </a:p>
          <a:p>
            <a:pPr algn="l">
              <a:lnSpc>
                <a:spcPts val="1575"/>
              </a:lnSpc>
            </a:pPr>
            <a:r>
              <a:rPr lang="zh-CN" sz="15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失败降级为错误响应，账单不落库</a:t>
            </a:r>
          </a:p>
        </p:txBody>
      </p:sp>
      <p:sp>
        <p:nvSpPr>
          <p:cNvPr id="27" name="Shape 27"/>
          <p:cNvSpPr/>
          <p:nvPr/>
        </p:nvSpPr>
        <p:spPr>
          <a:xfrm>
            <a:off x="6219825" y="1828800"/>
            <a:ext cx="4381500" cy="932688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8" name="Shape 28"/>
          <p:cNvSpPr/>
          <p:nvPr/>
        </p:nvSpPr>
        <p:spPr>
          <a:xfrm>
            <a:off x="6362700" y="1883664"/>
            <a:ext cx="285750" cy="28575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9" name="TextBox 29"/>
          <p:cNvSpPr/>
          <p:nvPr/>
        </p:nvSpPr>
        <p:spPr>
          <a:xfrm>
            <a:off x="6362700" y="1911095"/>
            <a:ext cx="2857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ctr"/>
            <a:r>
              <a:rPr lang="en-US" sz="1400" b="1" dirty="0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0" name="TextBox 30"/>
          <p:cNvSpPr/>
          <p:nvPr/>
        </p:nvSpPr>
        <p:spPr>
          <a:xfrm>
            <a:off x="6724650" y="1911095"/>
            <a:ext cx="400050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zh-CN" sz="1700" b="1" dirty="0">
                <a:solidFill>
                  <a:srgbClr val="6FB1FF"/>
                </a:solidFill>
                <a:latin typeface="Microsoft YaHei"/>
                <a:ea typeface="Microsoft YaHei"/>
                <a:cs typeface="Microsoft YaHei"/>
              </a:rPr>
              <a:t>检索增强与服务降级的可用性</a:t>
            </a:r>
          </a:p>
        </p:txBody>
      </p:sp>
      <p:sp>
        <p:nvSpPr>
          <p:cNvPr id="31" name="TextBox 31"/>
          <p:cNvSpPr/>
          <p:nvPr/>
        </p:nvSpPr>
        <p:spPr>
          <a:xfrm>
            <a:off x="6362700" y="2194560"/>
            <a:ext cx="40005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1575"/>
              </a:lnSpc>
            </a:pPr>
            <a:r>
              <a:rPr lang="zh-CN" sz="15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向量服务失效自动切换关键词检索</a:t>
            </a:r>
          </a:p>
          <a:p>
            <a:pPr algn="l">
              <a:lnSpc>
                <a:spcPts val="1575"/>
              </a:lnSpc>
            </a:pPr>
            <a:r>
              <a:rPr lang="zh-CN" sz="15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FAQ 链路不整体失效</a:t>
            </a:r>
          </a:p>
        </p:txBody>
      </p:sp>
      <p:sp>
        <p:nvSpPr>
          <p:cNvPr id="32" name="Shape 32"/>
          <p:cNvSpPr/>
          <p:nvPr/>
        </p:nvSpPr>
        <p:spPr>
          <a:xfrm>
            <a:off x="6219825" y="2834640"/>
            <a:ext cx="4381500" cy="932688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3" name="Shape 33"/>
          <p:cNvSpPr/>
          <p:nvPr/>
        </p:nvSpPr>
        <p:spPr>
          <a:xfrm>
            <a:off x="6362700" y="2889504"/>
            <a:ext cx="285750" cy="28575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4" name="TextBox 34"/>
          <p:cNvSpPr/>
          <p:nvPr/>
        </p:nvSpPr>
        <p:spPr>
          <a:xfrm>
            <a:off x="6362700" y="2916936"/>
            <a:ext cx="2857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ctr"/>
            <a:r>
              <a:rPr lang="en-US" sz="1400" b="1" dirty="0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5" name="TextBox 35"/>
          <p:cNvSpPr/>
          <p:nvPr/>
        </p:nvSpPr>
        <p:spPr>
          <a:xfrm>
            <a:off x="6724650" y="2916936"/>
            <a:ext cx="400050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zh-CN" sz="1700" b="1" dirty="0">
                <a:solidFill>
                  <a:srgbClr val="6FB1FF"/>
                </a:solidFill>
                <a:latin typeface="Microsoft YaHei"/>
                <a:ea typeface="Microsoft YaHei"/>
                <a:cs typeface="Microsoft YaHei"/>
              </a:rPr>
              <a:t>长对话的上下文成本控制</a:t>
            </a:r>
          </a:p>
        </p:txBody>
      </p:sp>
      <p:sp>
        <p:nvSpPr>
          <p:cNvPr id="36" name="TextBox 36"/>
          <p:cNvSpPr/>
          <p:nvPr/>
        </p:nvSpPr>
        <p:spPr>
          <a:xfrm>
            <a:off x="6362700" y="3200400"/>
            <a:ext cx="40005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1575"/>
              </a:lnSpc>
            </a:pPr>
            <a:r>
              <a:rPr lang="zh-CN" sz="15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历史累积抬高调用成本</a:t>
            </a:r>
          </a:p>
          <a:p>
            <a:pPr algn="l">
              <a:lnSpc>
                <a:spcPts val="1575"/>
              </a:lnSpc>
            </a:pPr>
            <a:r>
              <a:rPr lang="zh-CN" sz="15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滑动窗口 2000/6 条内保留关键信息</a:t>
            </a:r>
          </a:p>
        </p:txBody>
      </p:sp>
      <p:sp>
        <p:nvSpPr>
          <p:cNvPr id="37" name="Shape 37"/>
          <p:cNvSpPr/>
          <p:nvPr/>
        </p:nvSpPr>
        <p:spPr>
          <a:xfrm>
            <a:off x="6219825" y="3840480"/>
            <a:ext cx="4381500" cy="932688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8" name="Shape 38"/>
          <p:cNvSpPr/>
          <p:nvPr/>
        </p:nvSpPr>
        <p:spPr>
          <a:xfrm>
            <a:off x="6362700" y="3895344"/>
            <a:ext cx="285750" cy="28575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9" name="TextBox 39"/>
          <p:cNvSpPr/>
          <p:nvPr/>
        </p:nvSpPr>
        <p:spPr>
          <a:xfrm>
            <a:off x="6362700" y="3922776"/>
            <a:ext cx="2857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ctr"/>
            <a:r>
              <a:rPr lang="en-US" sz="1400" b="1" dirty="0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40" name="TextBox 40"/>
          <p:cNvSpPr/>
          <p:nvPr/>
        </p:nvSpPr>
        <p:spPr>
          <a:xfrm>
            <a:off x="6724650" y="3922776"/>
            <a:ext cx="400050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zh-CN" sz="1700" b="1" dirty="0">
                <a:solidFill>
                  <a:srgbClr val="6FB1FF"/>
                </a:solidFill>
                <a:latin typeface="Microsoft YaHei"/>
                <a:ea typeface="Microsoft YaHei"/>
                <a:cs typeface="Microsoft YaHei"/>
              </a:rPr>
              <a:t>多租户数据隔离与权限控制</a:t>
            </a:r>
          </a:p>
        </p:txBody>
      </p:sp>
      <p:sp>
        <p:nvSpPr>
          <p:cNvPr id="41" name="TextBox 41"/>
          <p:cNvSpPr/>
          <p:nvPr/>
        </p:nvSpPr>
        <p:spPr>
          <a:xfrm>
            <a:off x="6362700" y="4206240"/>
            <a:ext cx="40005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1575"/>
              </a:lnSpc>
            </a:pPr>
            <a:r>
              <a:rPr lang="zh-CN" sz="15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查询强制携带用户条件，会话校验归属</a:t>
            </a:r>
          </a:p>
          <a:p>
            <a:pPr algn="l">
              <a:lnSpc>
                <a:spcPts val="1575"/>
              </a:lnSpc>
            </a:pPr>
            <a:r>
              <a:rPr lang="zh-CN" sz="15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管理端叠加角色校验</a:t>
            </a:r>
          </a:p>
        </p:txBody>
      </p:sp>
      <p:sp>
        <p:nvSpPr>
          <p:cNvPr id="42" name="Shape 42"/>
          <p:cNvSpPr/>
          <p:nvPr/>
        </p:nvSpPr>
        <p:spPr>
          <a:xfrm>
            <a:off x="6219825" y="4846320"/>
            <a:ext cx="4381500" cy="932688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3" name="Shape 43"/>
          <p:cNvSpPr/>
          <p:nvPr/>
        </p:nvSpPr>
        <p:spPr>
          <a:xfrm>
            <a:off x="6362700" y="4901183"/>
            <a:ext cx="285750" cy="28575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4" name="TextBox 44"/>
          <p:cNvSpPr/>
          <p:nvPr/>
        </p:nvSpPr>
        <p:spPr>
          <a:xfrm>
            <a:off x="6362700" y="4928616"/>
            <a:ext cx="2857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ctr"/>
            <a:r>
              <a:rPr lang="en-US" sz="1400" b="1" dirty="0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45" name="TextBox 45"/>
          <p:cNvSpPr/>
          <p:nvPr/>
        </p:nvSpPr>
        <p:spPr>
          <a:xfrm>
            <a:off x="6724650" y="4928616"/>
            <a:ext cx="400050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zh-CN" sz="1700" b="1" dirty="0">
                <a:solidFill>
                  <a:srgbClr val="6FB1FF"/>
                </a:solidFill>
                <a:latin typeface="Microsoft YaHei"/>
                <a:ea typeface="Microsoft YaHei"/>
                <a:cs typeface="Microsoft YaHei"/>
              </a:rPr>
              <a:t>统计查询性能与数据正确性</a:t>
            </a:r>
          </a:p>
        </p:txBody>
      </p:sp>
      <p:sp>
        <p:nvSpPr>
          <p:cNvPr id="46" name="TextBox 46"/>
          <p:cNvSpPr/>
          <p:nvPr/>
        </p:nvSpPr>
        <p:spPr>
          <a:xfrm>
            <a:off x="6362700" y="5212080"/>
            <a:ext cx="40005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1575"/>
              </a:lnSpc>
            </a:pPr>
            <a:r>
              <a:rPr lang="zh-CN" sz="15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日期列函数包裹无法命中索引</a:t>
            </a:r>
          </a:p>
          <a:p>
            <a:pPr algn="l">
              <a:lnSpc>
                <a:spcPts val="1575"/>
              </a:lnSpc>
            </a:pPr>
            <a:r>
              <a:rPr lang="zh-CN" sz="15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改写区间条件并统一舍入口径</a:t>
            </a:r>
          </a:p>
        </p:txBody>
      </p:sp>
      <p:sp>
        <p:nvSpPr>
          <p:cNvPr id="92" name="Shape 92"/>
          <p:cNvSpPr/>
          <p:nvPr/>
        </p:nvSpPr>
        <p:spPr>
          <a:xfrm>
            <a:off x="1014984" y="5870448"/>
            <a:ext cx="9582912" cy="438912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3" name="Shape 93"/>
          <p:cNvSpPr/>
          <p:nvPr/>
        </p:nvSpPr>
        <p:spPr>
          <a:xfrm>
            <a:off x="1161288" y="5943600"/>
            <a:ext cx="283464" cy="283464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4" name="TextBox 94"/>
          <p:cNvSpPr/>
          <p:nvPr/>
        </p:nvSpPr>
        <p:spPr>
          <a:xfrm>
            <a:off x="1161288" y="5971032"/>
            <a:ext cx="28346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ctr"/>
            <a:r>
              <a:rPr lang="en-US" sz="1400" b="1" dirty="0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95" name="TextBox 95"/>
          <p:cNvSpPr/>
          <p:nvPr/>
        </p:nvSpPr>
        <p:spPr>
          <a:xfrm>
            <a:off x="1527048" y="5961888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zh-CN" sz="1700" b="1" dirty="0">
                <a:solidFill>
                  <a:srgbClr val="6FB1FF"/>
                </a:solidFill>
                <a:latin typeface="Microsoft YaHei"/>
                <a:ea typeface="Microsoft YaHei"/>
                <a:cs typeface="Microsoft YaHei"/>
              </a:rPr>
              <a:t>会员配额与支付安全</a:t>
            </a:r>
          </a:p>
        </p:txBody>
      </p:sp>
      <p:sp>
        <p:nvSpPr>
          <p:cNvPr id="96" name="TextBox 96"/>
          <p:cNvSpPr/>
          <p:nvPr/>
        </p:nvSpPr>
        <p:spPr>
          <a:xfrm>
            <a:off x="4023360" y="5952744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1575"/>
              </a:lnSpc>
            </a:pPr>
            <a:r>
              <a:rPr lang="zh-CN" sz="15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按档位配额闸门限流 · 回调 HMAC 验签 · 风控拦截人工终审与审计留痕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fast" advClick="1" p14:dur="400">
        <p:fade/>
      </p:transition>
    </mc:Choice>
    <mc:Fallback>
      <p:transition spd="fast" advClick="1">
        <p:fade/>
      </p:transition>
    </mc:Fallback>
  </mc:AlternateContent>
</p:sld>
</file>

<file path=ppt/slides/slide10.xml><?xml version="1.0" encoding="utf-8"?>
<p:sld xmlns:a="http://schemas.openxmlformats.org/drawingml/2006/main" xmlns:a16="http://schemas.microsoft.com/office/drawing/2014/main" xmlns:p="http://schemas.openxmlformats.org/presentationml/2006/main">
  <p:cSld>
    <p:bg>
      <p:bgPr>
        <a:solidFill>
          <a:srgbClr val="0B122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16000" y="500000"/>
            <a:ext cx="10160000" cy="6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两类角色：普通用户七项功能与管理员六项职能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190000"/>
            <a:ext cx="101600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04　系统需求分析　·　功能需求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6400000"/>
            <a:ext cx="10160000" cy="9525"/>
          </a:xfrm>
          <a:prstGeom prst="rect">
            <a:avLst/>
          </a:prstGeom>
          <a:solidFill>
            <a:srgbClr val="18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>
            <a:extLst>
              <a:ext uri="{FF2B5EF4-FFF2-40B4-BE49-F238E27FC236}">
                <a16:creationId id="{D57296F8-09D3-4DAF-9CD6-81764450B7A8}"/>
              </a:ext>
            </a:extLst>
          </p:cNvPr>
          <p:cNvSpPr txBox="1"/>
          <p:nvPr/>
        </p:nvSpPr>
        <p:spPr>
          <a:xfrm>
            <a:off x="9350000" y="6450000"/>
            <a:ext cx="1866000" cy="308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10 / 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6000" y="2090000"/>
            <a:ext cx="5200000" cy="288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17168" y="2190000"/>
            <a:ext cx="4852528" cy="26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普通用户侧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注册登录与个人资料维护（JWT 鉴权、头像）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收支分类：预设 16 个，支持自定义增删改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账单增删改查与分页筛选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月度收支汇总与分类维度统计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AI 自然语言记账：一句话入账，可续改删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多会话流式对话、分析预算与 FAQ 检索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会员中心：档位与每日 AI 额度、套餐 / 兑换码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6000" y="5080000"/>
            <a:ext cx="5200000" cy="98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17168" y="5180000"/>
            <a:ext cx="4852528" cy="7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数据归属原则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业务查询强制携带当前用户条件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80000" y="2090000"/>
            <a:ext cx="4496000" cy="250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81168" y="2190000"/>
            <a:ext cx="4148528" cy="2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管理员侧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用户管理与启用禁用 / 删除 / 批量删除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全量账单管理与批量删除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FAQ 知识库增删改查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系统概览与 AI 会话统计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会员管理：兑换码生成 / 作废、开通延期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充值审批：风控单人工终审与审计轨迹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80000" y="4700000"/>
            <a:ext cx="4496000" cy="98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81168" y="4800000"/>
            <a:ext cx="4148528" cy="7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权限叠加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管理端接口在鉴权之上叠加 role 校验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fast" advClick="1" p14:dur="400">
        <p:fade/>
      </p:transition>
    </mc:Choice>
    <mc:Fallback>
      <p:transition spd="fast" advClick="1">
        <p:fade/>
      </p:transition>
    </mc:Fallback>
  </mc:AlternateContent>
</p:sld>
</file>

<file path=ppt/slides/slide11.xml><?xml version="1.0" encoding="utf-8"?>
<p:sld xmlns:a="http://schemas.openxmlformats.org/drawingml/2006/main" xmlns:a16="http://schemas.microsoft.com/office/drawing/2014/main" xmlns:p="http://schemas.openxmlformats.org/presentationml/2006/main">
  <p:cSld>
    <p:bg>
      <p:bgPr>
        <a:solidFill>
          <a:srgbClr val="0B122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16000" y="500000"/>
            <a:ext cx="10160000" cy="6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功能需求清单：十个模块逐项列出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190000"/>
            <a:ext cx="101600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04　系统需求分析　·　功能需求清单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6400000"/>
            <a:ext cx="10160000" cy="9525"/>
          </a:xfrm>
          <a:prstGeom prst="rect">
            <a:avLst/>
          </a:prstGeom>
          <a:solidFill>
            <a:srgbClr val="18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>
            <a:extLst>
              <a:ext uri="{FF2B5EF4-FFF2-40B4-BE49-F238E27FC236}">
                <a16:creationId id="{8025871C-C1F6-4D76-BFC2-41704F31B12B}"/>
              </a:ext>
            </a:extLst>
          </p:cNvPr>
          <p:cNvSpPr txBox="1"/>
          <p:nvPr/>
        </p:nvSpPr>
        <p:spPr>
          <a:xfrm>
            <a:off x="9350000" y="6450000"/>
            <a:ext cx="1866000" cy="308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11 / 23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16000" y="2090000"/>
          <a:ext cx="10160000" cy="40873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00000"/>
                <a:gridCol w="6200000"/>
                <a:gridCol w="2460000"/>
              </a:tblGrid>
              <a:tr h="384048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1">
                          <a:solidFill>
                            <a:srgbClr val="F4F8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模块</a:t>
                      </a:r>
                    </a:p>
                  </a:txBody>
                  <a:tcPr marL="73152" marR="73152" marT="18288" marB="18288">
                    <a:solidFill>
                      <a:srgbClr val="1E40AF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1">
                          <a:solidFill>
                            <a:srgbClr val="F4F8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功能点</a:t>
                      </a:r>
                    </a:p>
                  </a:txBody>
                  <a:tcPr marL="73152" marR="73152" marT="18288" marB="18288">
                    <a:solidFill>
                      <a:srgbClr val="1E40AF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1">
                          <a:solidFill>
                            <a:srgbClr val="F4F8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角色</a:t>
                      </a:r>
                    </a:p>
                  </a:txBody>
                  <a:tcPr marL="73152" marR="73152" marT="18288" marB="18288">
                    <a:solidFill>
                      <a:srgbClr val="1E40AF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370332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用户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注册、登录、资料修改、修改密码、头像上传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用户 / 管理员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370332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收支分类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预设 16 分类 + 自定义增删改查、按类型过滤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用户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370332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账单记录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增删改查、分页筛选（分类/月份/类型）、软删除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用户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370332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统计分析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月度收支汇总、分类维度占比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用户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370332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会员与充值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档位配额闸门、套餐充值与兑换码核销、充值记录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用户 / 管理员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370332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AI 对话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多会话管理、SSE 流式对话、消息历史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用户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370332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AI 记账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自然语言记账、修改/删除刚记记录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用户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370332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AI 分析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消费分析、预算规划（以 50/30/20 法则为参考）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用户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370332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FAQ 检索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向量语义检索、关键词降级、点赞/点踩反馈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用户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370332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管理后台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用户/账单管理、FAQ 维护、概览与 AI 统计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管理员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fast" advClick="1" p14:dur="400">
        <p:fade/>
      </p:transition>
    </mc:Choice>
    <mc:Fallback>
      <p:transition spd="fast" advClick="1">
        <p:fade/>
      </p:transition>
    </mc:Fallback>
  </mc:AlternateContent>
</p:sld>
</file>

<file path=ppt/slides/slide12.xml><?xml version="1.0" encoding="utf-8"?>
<p:sld xmlns:a="http://schemas.openxmlformats.org/drawingml/2006/main" xmlns:a16="http://schemas.microsoft.com/office/drawing/2014/main" xmlns:p="http://schemas.openxmlformats.org/presentationml/2006/main">
  <p:cSld>
    <p:bg>
      <p:bgPr>
        <a:solidFill>
          <a:srgbClr val="0B122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16000" y="500000"/>
            <a:ext cx="10160000" cy="6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四类非功能约束，六条硬性要求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190000"/>
            <a:ext cx="101600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04　系统需求分析　·　非功能需求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6400000"/>
            <a:ext cx="10160000" cy="9525"/>
          </a:xfrm>
          <a:prstGeom prst="rect">
            <a:avLst/>
          </a:prstGeom>
          <a:solidFill>
            <a:srgbClr val="18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>
            <a:extLst>
              <a:ext uri="{FF2B5EF4-FFF2-40B4-BE49-F238E27FC236}">
                <a16:creationId id="{BEBDB9A3-9807-49A5-BA97-AD38DB340FFB}"/>
              </a:ext>
            </a:extLst>
          </p:cNvPr>
          <p:cNvSpPr txBox="1"/>
          <p:nvPr/>
        </p:nvSpPr>
        <p:spPr>
          <a:xfrm>
            <a:off x="9350000" y="6450000"/>
            <a:ext cx="1866000" cy="308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12 / 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6000" y="2090000"/>
            <a:ext cx="5200000" cy="136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17168" y="2190000"/>
            <a:ext cx="4852528" cy="1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性能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SSE 流式对话与常规 REST 并发互不阻塞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统计查询必须可命中复合索引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80000" y="2090000"/>
            <a:ext cx="4496000" cy="174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81168" y="2190000"/>
            <a:ext cx="4148528" cy="1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安全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口令 bcrypt 哈希存储，JWT 无状态鉴权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金额统一 DECIMAL(10,2)，禁用浮点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6000" y="3590000"/>
            <a:ext cx="5200000" cy="136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17168" y="3690000"/>
            <a:ext cx="4852528" cy="1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可用性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AI 外部服务失效时核心功能仍可用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FAQ 检索具备关键词降级路径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80000" y="3590000"/>
            <a:ext cx="4496000" cy="136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81168" y="3690000"/>
            <a:ext cx="4148528" cy="1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可维护性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路由—CRUD—模型分层架构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统一响应封装 + pytest 回归集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6000" y="5753696"/>
            <a:ext cx="10160000" cy="526304"/>
          </a:xfrm>
          <a:prstGeom prst="rect">
            <a:avLst/>
          </a:prstGeom>
          <a:solidFill>
            <a:srgbClr val="0D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17168" y="5826848"/>
            <a:ext cx="9757664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性能 / 安全 / 可用性 / 可维护性四类约束，逐条对应开题报告四（二）。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fast" advClick="1" p14:dur="400">
        <p:fade/>
      </p:transition>
    </mc:Choice>
    <mc:Fallback>
      <p:transition spd="fast" advClick="1">
        <p:fade/>
      </p:transition>
    </mc:Fallback>
  </mc:AlternateContent>
</p:sld>
</file>

<file path=ppt/slides/slide13.xml><?xml version="1.0" encoding="utf-8"?>
<p:sld xmlns:a="http://schemas.openxmlformats.org/drawingml/2006/main" xmlns:a16="http://schemas.microsoft.com/office/drawing/2014/main" xmlns:p="http://schemas.openxmlformats.org/presentationml/2006/main">
  <p:cSld>
    <p:bg>
      <p:bgPr>
        <a:solidFill>
          <a:srgbClr val="0B122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16000" y="500000"/>
            <a:ext cx="10160000" cy="6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六阶段推进，允许迭代回退；Git + CI + Docker 保障一致性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190000"/>
            <a:ext cx="101600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05　技术路线与实施方案　·　总体技术路线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6400000"/>
            <a:ext cx="10160000" cy="9525"/>
          </a:xfrm>
          <a:prstGeom prst="rect">
            <a:avLst/>
          </a:prstGeom>
          <a:solidFill>
            <a:srgbClr val="18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>
            <a:extLst>
              <a:ext uri="{FF2B5EF4-FFF2-40B4-BE49-F238E27FC236}">
                <a16:creationId id="{1A484397-B488-47A3-9E13-5467737204CF}"/>
              </a:ext>
            </a:extLst>
          </p:cNvPr>
          <p:cNvSpPr txBox="1"/>
          <p:nvPr/>
        </p:nvSpPr>
        <p:spPr>
          <a:xfrm>
            <a:off x="9350000" y="6450000"/>
            <a:ext cx="1866000" cy="308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13 / 23</a:t>
            </a:r>
          </a:p>
        </p:txBody>
      </p:sp>
      <p:sp>
        <p:nvSpPr>
          <p:cNvPr id="6" name="Chevron 5"/>
          <p:cNvSpPr/>
          <p:nvPr/>
        </p:nvSpPr>
        <p:spPr>
          <a:xfrm>
            <a:off x="1016000" y="2090000"/>
            <a:ext cx="1650000" cy="560000"/>
          </a:xfrm>
          <a:prstGeom prst="chevron">
            <a:avLst>
              <a:gd name="adj" fmla="val 28000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>
            <a:extLst>
              <a:ext uri="{FF2B5EF4-FFF2-40B4-BE49-F238E27FC236}">
                <a16:creationId id="{30A4510F-2294-4230-94A6-D9A62AD9E103}"/>
              </a:ext>
            </a:extLst>
          </p:cNvPr>
          <p:cNvSpPr txBox="1"/>
          <p:nvPr/>
        </p:nvSpPr>
        <p:spPr>
          <a:xfrm>
            <a:off x="1228725" y="2190750"/>
            <a:ext cx="1238250" cy="352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800" b="1">
                <a:solidFill>
                  <a:srgbClr val="F4F8FF"/>
                </a:solidFill>
                <a:latin typeface="微软雅黑"/>
                <a:ea typeface="微软雅黑"/>
                <a:cs typeface="微软雅黑"/>
              </a:rPr>
              <a:t>文献调研</a:t>
            </a:r>
          </a:p>
        </p:txBody>
      </p:sp>
      <p:sp>
        <p:nvSpPr>
          <p:cNvPr id="8" name="Chevron 7"/>
          <p:cNvSpPr/>
          <p:nvPr/>
        </p:nvSpPr>
        <p:spPr>
          <a:xfrm>
            <a:off x="2718000" y="2090000"/>
            <a:ext cx="1650000" cy="560000"/>
          </a:xfrm>
          <a:prstGeom prst="chevron">
            <a:avLst>
              <a:gd name="adj" fmla="val 28000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>
            <a:extLst>
              <a:ext uri="{FF2B5EF4-FFF2-40B4-BE49-F238E27FC236}">
                <a16:creationId id="{60361379-4417-4CCF-8610-A40E69B5ABC2}"/>
              </a:ext>
            </a:extLst>
          </p:cNvPr>
          <p:cNvSpPr txBox="1"/>
          <p:nvPr/>
        </p:nvSpPr>
        <p:spPr>
          <a:xfrm>
            <a:off x="2917700" y="2190750"/>
            <a:ext cx="1238250" cy="352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800" b="1">
                <a:solidFill>
                  <a:srgbClr val="F4F8FF"/>
                </a:solidFill>
                <a:latin typeface="微软雅黑"/>
                <a:ea typeface="微软雅黑"/>
                <a:cs typeface="微软雅黑"/>
              </a:rPr>
              <a:t>需求分析</a:t>
            </a:r>
          </a:p>
        </p:txBody>
      </p:sp>
      <p:sp>
        <p:nvSpPr>
          <p:cNvPr id="10" name="Chevron 9"/>
          <p:cNvSpPr/>
          <p:nvPr/>
        </p:nvSpPr>
        <p:spPr>
          <a:xfrm>
            <a:off x="4420000" y="2090000"/>
            <a:ext cx="1650000" cy="560000"/>
          </a:xfrm>
          <a:prstGeom prst="chevron">
            <a:avLst>
              <a:gd name="adj" fmla="val 28000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>
            <a:extLst>
              <a:ext uri="{FF2B5EF4-FFF2-40B4-BE49-F238E27FC236}">
                <a16:creationId id="{F73841EC-E5EE-4894-B116-E54FB32415B5}"/>
              </a:ext>
            </a:extLst>
          </p:cNvPr>
          <p:cNvSpPr txBox="1"/>
          <p:nvPr/>
        </p:nvSpPr>
        <p:spPr>
          <a:xfrm>
            <a:off x="4629150" y="2190750"/>
            <a:ext cx="1238250" cy="352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800" b="1">
                <a:solidFill>
                  <a:srgbClr val="F4F8FF"/>
                </a:solidFill>
                <a:latin typeface="微软雅黑"/>
                <a:ea typeface="微软雅黑"/>
                <a:cs typeface="微软雅黑"/>
              </a:rPr>
              <a:t>系统设计</a:t>
            </a:r>
          </a:p>
        </p:txBody>
      </p:sp>
      <p:sp>
        <p:nvSpPr>
          <p:cNvPr id="12" name="Chevron 11"/>
          <p:cNvSpPr/>
          <p:nvPr/>
        </p:nvSpPr>
        <p:spPr>
          <a:xfrm>
            <a:off x="6122000" y="2090000"/>
            <a:ext cx="1650000" cy="560000"/>
          </a:xfrm>
          <a:prstGeom prst="chevron">
            <a:avLst>
              <a:gd name="adj" fmla="val 28000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>
            <a:extLst>
              <a:ext uri="{FF2B5EF4-FFF2-40B4-BE49-F238E27FC236}">
                <a16:creationId id="{9E27A4D3-A4B1-4292-B3D4-7FDC065FA5FD}"/>
              </a:ext>
            </a:extLst>
          </p:cNvPr>
          <p:cNvSpPr txBox="1"/>
          <p:nvPr/>
        </p:nvSpPr>
        <p:spPr>
          <a:xfrm>
            <a:off x="6330950" y="2190750"/>
            <a:ext cx="1238250" cy="352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800" b="1">
                <a:solidFill>
                  <a:srgbClr val="F4F8FF"/>
                </a:solidFill>
                <a:latin typeface="微软雅黑"/>
                <a:ea typeface="微软雅黑"/>
                <a:cs typeface="微软雅黑"/>
              </a:rPr>
              <a:t>编码实现</a:t>
            </a:r>
          </a:p>
        </p:txBody>
      </p:sp>
      <p:sp>
        <p:nvSpPr>
          <p:cNvPr id="14" name="Chevron 13"/>
          <p:cNvSpPr/>
          <p:nvPr/>
        </p:nvSpPr>
        <p:spPr>
          <a:xfrm>
            <a:off x="7824000" y="2090000"/>
            <a:ext cx="1650000" cy="560000"/>
          </a:xfrm>
          <a:prstGeom prst="chevron">
            <a:avLst>
              <a:gd name="adj" fmla="val 28000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>
            <a:extLst>
              <a:ext uri="{FF2B5EF4-FFF2-40B4-BE49-F238E27FC236}">
                <a16:creationId id="{B2A39406-D60A-460A-B5E0-78F38858AE20}"/>
              </a:ext>
            </a:extLst>
          </p:cNvPr>
          <p:cNvSpPr txBox="1"/>
          <p:nvPr/>
        </p:nvSpPr>
        <p:spPr>
          <a:xfrm>
            <a:off x="8026400" y="2190750"/>
            <a:ext cx="1238250" cy="352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800" b="1">
                <a:solidFill>
                  <a:srgbClr val="F4F8FF"/>
                </a:solidFill>
                <a:latin typeface="微软雅黑"/>
                <a:ea typeface="微软雅黑"/>
                <a:cs typeface="微软雅黑"/>
              </a:rPr>
              <a:t>测试验证</a:t>
            </a:r>
          </a:p>
        </p:txBody>
      </p:sp>
      <p:sp>
        <p:nvSpPr>
          <p:cNvPr id="16" name="Chevron 15"/>
          <p:cNvSpPr/>
          <p:nvPr/>
        </p:nvSpPr>
        <p:spPr>
          <a:xfrm>
            <a:off x="9526000" y="2090000"/>
            <a:ext cx="1650000" cy="560000"/>
          </a:xfrm>
          <a:prstGeom prst="chevron">
            <a:avLst>
              <a:gd name="adj" fmla="val 28000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>
            <a:extLst>
              <a:ext uri="{FF2B5EF4-FFF2-40B4-BE49-F238E27FC236}">
                <a16:creationId id="{E5314B57-7B02-4268-8B49-B70D1D26B002}"/>
              </a:ext>
            </a:extLst>
          </p:cNvPr>
          <p:cNvSpPr txBox="1"/>
          <p:nvPr/>
        </p:nvSpPr>
        <p:spPr>
          <a:xfrm>
            <a:off x="9737750" y="2190750"/>
            <a:ext cx="1238250" cy="352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800" b="1">
                <a:solidFill>
                  <a:srgbClr val="F4F8FF"/>
                </a:solidFill>
                <a:latin typeface="微软雅黑"/>
                <a:ea typeface="微软雅黑"/>
                <a:cs typeface="微软雅黑"/>
              </a:rPr>
              <a:t>论文与答辩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6000" y="3410000"/>
            <a:ext cx="5200000" cy="212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>
            <a:extLst>
              <a:ext uri="{FF2B5EF4-FFF2-40B4-BE49-F238E27FC236}">
                <a16:creationId id="{8705A800-9E0E-44E3-AFF0-1B921F486151}"/>
              </a:ext>
            </a:extLst>
          </p:cNvPr>
          <p:cNvSpPr txBox="1"/>
          <p:nvPr/>
        </p:nvSpPr>
        <p:spPr>
          <a:xfrm>
            <a:off x="1217168" y="3510000"/>
            <a:ext cx="4852528" cy="14391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工程保障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Git 版本管理与 GitHub Actions 持续集成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一条 CI 工作流三阶段：后端测试/Web/移动端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Docker Compose 编排三服务，一键部署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80000" y="3410000"/>
            <a:ext cx="4496000" cy="136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81168" y="3510000"/>
            <a:ext cx="4148528" cy="1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一致性目标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开发、验证与部署环境保持一致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降低“在我机器上能跑”的交付风险</a:t>
            </a:r>
          </a:p>
        </p:txBody>
      </p:sp>
      <p:grpSp>
        <p:nvGrpSpPr>
          <p:cNvPr id="41" name="rollback-arrows"/>
          <p:cNvGrpSpPr/>
          <p:nvPr/>
        </p:nvGrpSpPr>
        <p:grpSpPr>
          <a:xfrm>
            <a:off x="1006888" y="2724150"/>
            <a:ext cx="8983980" cy="691134"/>
            <a:chOff x="1006888" y="2724150"/>
            <a:chExt cx="8983980" cy="691134"/>
          </a:xfrm>
        </p:grpSpPr>
        <p:sp>
          <p:nvSpPr>
            <p:cNvPr id="38" name="Freeform 38"/>
            <p:cNvSpPr/>
            <p:nvPr/>
          </p:nvSpPr>
          <p:spPr>
            <a:xfrm>
              <a:off x="5248275" y="2724150"/>
              <a:ext cx="3400425" cy="368300"/>
            </a:xfrm>
            <a:custGeom>
              <a:avLst/>
              <a:gdLst/>
              <a:ahLst/>
              <a:cxnLst/>
              <a:rect l="l" t="t" r="r" b="b"/>
              <a:pathLst>
                <a:path w="3400425" h="368300">
                  <a:moveTo>
                    <a:pt x="3400425" y="0"/>
                  </a:moveTo>
                  <a:cubicBezTo>
                    <a:pt x="2263775" y="368300"/>
                    <a:pt x="1130300" y="368300"/>
                    <a:pt x="0" y="0"/>
                  </a:cubicBezTo>
                </a:path>
              </a:pathLst>
            </a:custGeom>
            <a:noFill/>
            <a:ln w="19050">
              <a:solidFill>
                <a:srgbClr val="4A5E7E"/>
              </a:solidFill>
              <a:custDash>
                <a:ds d="300000" sp="250000"/>
              </a:custDash>
              <a:tailEnd type="triangle" w="med" len="lg"/>
            </a:ln>
          </p:spPr>
        </p:sp>
        <p:sp>
          <p:nvSpPr>
            <p:cNvPr id="39" name="Freeform 39"/>
            <p:cNvSpPr/>
            <p:nvPr/>
          </p:nvSpPr>
          <p:spPr>
            <a:xfrm>
              <a:off x="3533775" y="2724150"/>
              <a:ext cx="3409950" cy="190500"/>
            </a:xfrm>
            <a:custGeom>
              <a:avLst/>
              <a:gdLst/>
              <a:ahLst/>
              <a:cxnLst/>
              <a:rect l="l" t="t" r="r" b="b"/>
              <a:pathLst>
                <a:path w="3409950" h="190500">
                  <a:moveTo>
                    <a:pt x="3409950" y="0"/>
                  </a:moveTo>
                  <a:cubicBezTo>
                    <a:pt x="2273300" y="190500"/>
                    <a:pt x="1136650" y="190500"/>
                    <a:pt x="0" y="0"/>
                  </a:cubicBezTo>
                </a:path>
              </a:pathLst>
            </a:custGeom>
            <a:noFill/>
            <a:ln w="19050">
              <a:solidFill>
                <a:srgbClr val="4A5E7E"/>
              </a:solidFill>
              <a:custDash>
                <a:ds d="300000" sp="250000"/>
              </a:custDash>
              <a:tailEnd type="triangle" w="med" len="lg"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06888" y="3063240"/>
              <a:ext cx="89839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EEF9"/>
                  </a:solidFill>
                  <a:latin typeface="Microsoft YaHei"/>
                  <a:ea typeface="Microsoft YaHei"/>
                  <a:cs typeface="Microsoft YaHei"/>
                </a:rPr>
                <a:t>迭代回退：测试发现设计缺陷回退至设计阶段；实现暴露需求歧义回退至需求分析。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fast" advClick="1" p14:dur="400">
        <p:fade/>
      </p:transition>
    </mc:Choice>
    <mc:Fallback>
      <p:transition spd="fast" advClick="1">
        <p:fade/>
      </p:transition>
    </mc:Fallback>
  </mc:AlternateContent>
</p:sld>
</file>

<file path=ppt/slides/slide14.xml><?xml version="1.0" encoding="utf-8"?>
<p:sld xmlns:a="http://schemas.openxmlformats.org/drawingml/2006/main" xmlns:a16="http://schemas.microsoft.com/office/drawing/2014/main" xmlns:p="http://schemas.openxmlformats.org/presentationml/2006/main">
  <p:cSld>
    <p:bg>
      <p:bgPr>
        <a:solidFill>
          <a:srgbClr val="0B122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16000" y="500000"/>
            <a:ext cx="10160000" cy="6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选型主线：全异步优先，单向推送优先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190000"/>
            <a:ext cx="101600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05　技术路线与实施方案　·　技术栈选型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6400000"/>
            <a:ext cx="10160000" cy="9525"/>
          </a:xfrm>
          <a:prstGeom prst="rect">
            <a:avLst/>
          </a:prstGeom>
          <a:solidFill>
            <a:srgbClr val="18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>
            <a:extLst>
              <a:ext uri="{FF2B5EF4-FFF2-40B4-BE49-F238E27FC236}">
                <a16:creationId id="{287371AF-6E27-49B6-B57C-77E9D5E5DAF2}"/>
              </a:ext>
            </a:extLst>
          </p:cNvPr>
          <p:cNvSpPr txBox="1"/>
          <p:nvPr/>
        </p:nvSpPr>
        <p:spPr>
          <a:xfrm>
            <a:off x="9350000" y="6450000"/>
            <a:ext cx="1866000" cy="308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14 / 23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16000" y="2090000"/>
          <a:ext cx="10160000" cy="403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00000"/>
                <a:gridCol w="4300000"/>
                <a:gridCol w="4460000"/>
              </a:tblGrid>
              <a:tr h="40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1">
                          <a:solidFill>
                            <a:srgbClr val="F4F8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层次</a:t>
                      </a:r>
                    </a:p>
                  </a:txBody>
                  <a:tcPr marL="73152" marR="73152" marT="18288" marB="18288">
                    <a:solidFill>
                      <a:srgbClr val="1E40AF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1">
                          <a:solidFill>
                            <a:srgbClr val="F4F8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技术选型</a:t>
                      </a:r>
                    </a:p>
                  </a:txBody>
                  <a:tcPr marL="73152" marR="73152" marT="18288" marB="18288">
                    <a:solidFill>
                      <a:srgbClr val="1E40AF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1">
                          <a:solidFill>
                            <a:srgbClr val="F4F8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选型理由</a:t>
                      </a:r>
                    </a:p>
                  </a:txBody>
                  <a:tcPr marL="73152" marR="73152" marT="18288" marB="18288">
                    <a:solidFill>
                      <a:srgbClr val="1E40AF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33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Web 前端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React 18 + AntD 5 + Vite 5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组件生态成熟，适配中后台界面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33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移动端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uni-app（Vue 3）+ Pinia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一套代码覆盖 H5 / 小程序 / App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33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后端框架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FastAPI + uvicorn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原生异步，自动生成 OpenAPI 文档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33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ORM 驱动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SQLAlchemy 2.0 + aiomysql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全异步访问，与 SSE 长连接共存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33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校验与配置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Pydantic 2 + python-dotenv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强类型校验，配置集中在 .env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33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认证安全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PyJWT（HS256）+ bcrypt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无状态鉴权，口令哈希存储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33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AI 编排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LangChain 核心 + OpenAI 兼容接口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便于链式编排与结构化输出绑定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33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实时通信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Server-Sent Events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单向增量推送，较 WebSocket 更轻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33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定时任务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APScheduler（可选依赖）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拟引入：清理过期软删除会话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33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部署与集成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Docker Compose + GH Actions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三服务一键编排，三端构建自动化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33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数据库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MySQL 8.0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事务与索引能力满足账务准确性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fast" advClick="1" p14:dur="400">
        <p:fade/>
      </p:transition>
    </mc:Choice>
    <mc:Fallback>
      <p:transition spd="fast" advClick="1">
        <p:fade/>
      </p:transition>
    </mc:Fallback>
  </mc:AlternateContent>
</p:sld>
</file>

<file path=ppt/slides/slide15.xml><?xml version="1.0" encoding="utf-8"?>
<p:sld xmlns:a="http://schemas.openxmlformats.org/drawingml/2006/main" xmlns:a16="http://schemas.microsoft.com/office/drawing/2014/main" xmlns:p="http://schemas.openxmlformats.org/presentationml/2006/main">
  <p:cSld>
    <p:bg>
      <p:bgPr>
        <a:solidFill>
          <a:srgbClr val="0B122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16000" y="500000"/>
            <a:ext cx="10160000" cy="6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三层结构：单 FastAPI 全异步进程对外提供 REST 与 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190000"/>
            <a:ext cx="101600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05　技术路线与实施方案　·　系统架构设计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6400000"/>
            <a:ext cx="10160000" cy="9525"/>
          </a:xfrm>
          <a:prstGeom prst="rect">
            <a:avLst/>
          </a:prstGeom>
          <a:solidFill>
            <a:srgbClr val="18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>
            <a:extLst>
              <a:ext uri="{FF2B5EF4-FFF2-40B4-BE49-F238E27FC236}">
                <a16:creationId id="{92374EF9-0A21-4390-B95A-8BD64593884A}"/>
              </a:ext>
            </a:extLst>
          </p:cNvPr>
          <p:cNvSpPr txBox="1"/>
          <p:nvPr/>
        </p:nvSpPr>
        <p:spPr>
          <a:xfrm>
            <a:off x="9356725" y="6457950"/>
            <a:ext cx="18669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15 / 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6000" y="2090000"/>
            <a:ext cx="10160000" cy="1310352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>
            <a:extLst>
              <a:ext uri="{FF2B5EF4-FFF2-40B4-BE49-F238E27FC236}">
                <a16:creationId id="{BA6CCF18-D894-4CB8-A323-5D64CEDDE7AE}"/>
              </a:ext>
            </a:extLst>
          </p:cNvPr>
          <p:cNvSpPr txBox="1"/>
          <p:nvPr/>
        </p:nvSpPr>
        <p:spPr>
          <a:xfrm>
            <a:off x="1217168" y="2199728"/>
            <a:ext cx="2600000" cy="3385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5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客户端层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7168" y="2599728"/>
            <a:ext cx="9757664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React 18 Web 管理端　|　uni-app 移动端（H5 / 小程序 / App）</a:t>
            </a:r>
          </a:p>
        </p:txBody>
      </p:sp>
      <p:sp>
        <p:nvSpPr>
          <p:cNvPr id="9" name="TextBox 8">
            <a:extLst>
              <a:ext uri="{FF2B5EF4-FFF2-40B4-BE49-F238E27FC236}">
                <a16:creationId id="{B14020CD-D04D-4D21-8B1D-AA089E363A19}"/>
              </a:ext>
            </a:extLst>
          </p:cNvPr>
          <p:cNvSpPr txBox="1"/>
          <p:nvPr/>
        </p:nvSpPr>
        <p:spPr>
          <a:xfrm>
            <a:off x="1218885" y="3006725"/>
            <a:ext cx="9753600" cy="3439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6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遵循 REST 架构约束的统一 HTTP 接口访问</a:t>
            </a:r>
          </a:p>
        </p:txBody>
      </p:sp>
      <p:sp>
        <p:nvSpPr>
          <p:cNvPr id="10" name="Down Arrow 9"/>
          <p:cNvSpPr/>
          <p:nvPr/>
        </p:nvSpPr>
        <p:spPr>
          <a:xfrm>
            <a:off x="6006000" y="3410352"/>
            <a:ext cx="180000" cy="190000"/>
          </a:xfrm>
          <a:prstGeom prst="downArrow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16000" y="3619808"/>
            <a:ext cx="10160000" cy="1310352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17168" y="3729536"/>
            <a:ext cx="26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服务层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7168" y="4129536"/>
            <a:ext cx="9757664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单个 FastAPI 全异步进程</a:t>
            </a:r>
          </a:p>
        </p:txBody>
      </p:sp>
      <p:sp>
        <p:nvSpPr>
          <p:cNvPr id="14" name="TextBox 13">
            <a:extLst>
              <a:ext uri="{FF2B5EF4-FFF2-40B4-BE49-F238E27FC236}">
                <a16:creationId id="{641D307C-E49D-4631-97C3-0A28C92D355E}"/>
              </a:ext>
            </a:extLst>
          </p:cNvPr>
          <p:cNvSpPr txBox="1"/>
          <p:nvPr/>
        </p:nvSpPr>
        <p:spPr>
          <a:xfrm>
            <a:off x="1218885" y="4917948"/>
            <a:ext cx="9753600" cy="3439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6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REST 接口 + SSE 接口；路由—CRUD—模型分层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6006000" y="4940160"/>
            <a:ext cx="180000" cy="190000"/>
          </a:xfrm>
          <a:prstGeom prst="downArrow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16000" y="5149616"/>
            <a:ext cx="10160000" cy="1310352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17168" y="5259344"/>
            <a:ext cx="26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数据与外部服务层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7168" y="5659344"/>
            <a:ext cx="9757664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MySQL 单库　|　静态文件目录　|　外部大模型服务</a:t>
            </a:r>
          </a:p>
        </p:txBody>
      </p:sp>
      <p:sp>
        <p:nvSpPr>
          <p:cNvPr id="19" name="TextBox 18">
            <a:extLst>
              <a:ext uri="{FF2B5EF4-FFF2-40B4-BE49-F238E27FC236}">
                <a16:creationId id="{7B3C9057-BB84-43D1-9DEE-190DE1F2CB9E}"/>
              </a:ext>
            </a:extLst>
          </p:cNvPr>
          <p:cNvSpPr txBox="1"/>
          <p:nvPr/>
        </p:nvSpPr>
        <p:spPr>
          <a:xfrm>
            <a:off x="1218885" y="6037193"/>
            <a:ext cx="9753600" cy="29514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500"/>
              </a:spcAft>
            </a:pPr>
            <a:r>
              <a:rPr sz="16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模型服务经 OpenAI 兼容协议调用，不绑定厂商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fast" advClick="1" p14:dur="400">
        <p:fade/>
      </p:transition>
    </mc:Choice>
    <mc:Fallback>
      <p:transition spd="fast" advClick="1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/>
          <p:nvPr/>
        </p:nvSpPr>
        <p:spPr>
          <a:xfrm>
            <a:off x="1019175" y="495300"/>
            <a:ext cx="10163175" cy="428625"/>
          </a:xfrm>
          <a:prstGeom prst="rect">
            <a:avLst/>
          </a:prstGeom>
          <a:noFill/>
          <a:ln>
            <a:noFill/>
          </a:ln>
        </p:spPr>
        <p:txBody>
          <a:bodyPr wrap="none" lIns="0" tIns="-5" rIns="0" bIns="0" anchor="t" anchorCtr="0">
            <a:noAutofit/>
          </a:bodyPr>
          <a:lstStyle/>
          <a:p>
            <a:pPr algn="l"/>
            <a:r>
              <a:rPr lang="zh-CN" sz="2800" b="1" dirty="0">
                <a:solidFill>
                  <a:srgbClr val="6FB1FF"/>
                </a:solidFill>
                <a:latin typeface="微软雅黑"/>
                <a:ea typeface="Microsoft YaHei"/>
                <a:cs typeface="微软雅黑"/>
              </a:rPr>
              <a:t>单库 14 表：以账单为核心的简化 E-R 与可命中索引</a:t>
            </a:r>
          </a:p>
        </p:txBody>
      </p:sp>
      <p:sp>
        <p:nvSpPr>
          <p:cNvPr id="4" name="TextBox 4"/>
          <p:cNvSpPr/>
          <p:nvPr/>
        </p:nvSpPr>
        <p:spPr>
          <a:xfrm>
            <a:off x="1019175" y="1238250"/>
            <a:ext cx="1016317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800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05　技术路线与实施方案　·　数据库设计</a:t>
            </a:r>
          </a:p>
        </p:txBody>
      </p:sp>
      <p:sp>
        <p:nvSpPr>
          <p:cNvPr id="5" name="Shape 5"/>
          <p:cNvSpPr/>
          <p:nvPr/>
        </p:nvSpPr>
        <p:spPr>
          <a:xfrm>
            <a:off x="1019175" y="6400800"/>
            <a:ext cx="10163175" cy="9525"/>
          </a:xfrm>
          <a:prstGeom prst="rect">
            <a:avLst/>
          </a:prstGeom>
          <a:noFill/>
          <a:ln w="12700">
            <a:solidFill>
              <a:srgbClr val="2639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9753600" y="6448425"/>
            <a:ext cx="14287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r"/>
            <a:r>
              <a:rPr lang="en-US" sz="1400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16 / 23</a:t>
            </a:r>
          </a:p>
        </p:txBody>
      </p:sp>
      <p:sp>
        <p:nvSpPr>
          <p:cNvPr id="7" name="TextBox 7"/>
          <p:cNvSpPr/>
          <p:nvPr/>
        </p:nvSpPr>
        <p:spPr>
          <a:xfrm>
            <a:off x="1019175" y="1809750"/>
            <a:ext cx="52006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-5" rIns="0" bIns="0" anchor="t" anchorCtr="0">
            <a:noAutofit/>
          </a:bodyPr>
          <a:lstStyle/>
          <a:p>
            <a:pPr algn="l"/>
            <a:r>
              <a:rPr lang="zh-CN" sz="1900" b="1" dirty="0">
                <a:solidFill>
                  <a:srgbClr val="6FB1FF"/>
                </a:solidFill>
                <a:latin typeface="Microsoft YaHei"/>
                <a:ea typeface="Microsoft YaHei"/>
                <a:cs typeface="Microsoft YaHei"/>
              </a:rPr>
              <a:t>简化 E-R：核心 9 张表四组关系</a:t>
            </a:r>
          </a:p>
        </p:txBody>
      </p:sp>
      <p:sp>
        <p:nvSpPr>
          <p:cNvPr id="8" name="Shape 8"/>
          <p:cNvSpPr/>
          <p:nvPr/>
        </p:nvSpPr>
        <p:spPr>
          <a:xfrm>
            <a:off x="3000375" y="2133600"/>
            <a:ext cx="1238250" cy="4191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3000375" y="2133600"/>
            <a:ext cx="123825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81248" rIns="0" bIns="0" anchor="t" anchorCtr="0">
            <a:noAutofit/>
          </a:bodyPr>
          <a:lstStyle/>
          <a:p>
            <a:pPr algn="ctr">
              <a:lnSpc>
                <a:spcPts val="1010"/>
              </a:lnSpc>
            </a:pPr>
            <a:r>
              <a:rPr lang="en-US" sz="12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users</a:t>
            </a:r>
          </a:p>
          <a:p>
            <a:pPr algn="ctr">
              <a:lnSpc>
                <a:spcPts val="1010"/>
              </a:lnSpc>
            </a:pPr>
            <a:r>
              <a:rPr lang="zh-CN" sz="1000" b="1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用户</a:t>
            </a:r>
          </a:p>
        </p:txBody>
      </p:sp>
      <p:sp>
        <p:nvSpPr>
          <p:cNvPr id="10" name="Shape 10"/>
          <p:cNvSpPr/>
          <p:nvPr/>
        </p:nvSpPr>
        <p:spPr>
          <a:xfrm>
            <a:off x="1143000" y="3333750"/>
            <a:ext cx="1428750" cy="4191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1143000" y="3333750"/>
            <a:ext cx="142875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81248" rIns="0" bIns="0" anchor="t" anchorCtr="0">
            <a:noAutofit/>
          </a:bodyPr>
          <a:lstStyle/>
          <a:p>
            <a:pPr algn="ctr">
              <a:lnSpc>
                <a:spcPts val="1010"/>
              </a:lnSpc>
            </a:pPr>
            <a:r>
              <a:rPr lang="en-US" sz="12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categories</a:t>
            </a:r>
          </a:p>
          <a:p>
            <a:pPr algn="ctr">
              <a:lnSpc>
                <a:spcPts val="1010"/>
              </a:lnSpc>
            </a:pPr>
            <a:r>
              <a:rPr lang="zh-CN" sz="1000" b="1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分类</a:t>
            </a:r>
          </a:p>
        </p:txBody>
      </p:sp>
      <p:sp>
        <p:nvSpPr>
          <p:cNvPr id="12" name="Shape 12"/>
          <p:cNvSpPr/>
          <p:nvPr/>
        </p:nvSpPr>
        <p:spPr>
          <a:xfrm>
            <a:off x="2905125" y="3333750"/>
            <a:ext cx="1428750" cy="41910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/>
          <p:cNvSpPr/>
          <p:nvPr/>
        </p:nvSpPr>
        <p:spPr>
          <a:xfrm>
            <a:off x="2905125" y="3333750"/>
            <a:ext cx="142875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81248" rIns="0" bIns="0" anchor="t" anchorCtr="0">
            <a:noAutofit/>
          </a:bodyPr>
          <a:lstStyle/>
          <a:p>
            <a:pPr algn="ctr">
              <a:lnSpc>
                <a:spcPts val="1010"/>
              </a:lnSpc>
            </a:pPr>
            <a:r>
              <a:rPr lang="en-US" sz="1200" b="1" dirty="0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rPr>
              <a:t>records</a:t>
            </a:r>
          </a:p>
          <a:p>
            <a:pPr algn="ctr">
              <a:lnSpc>
                <a:spcPts val="1010"/>
              </a:lnSpc>
            </a:pPr>
            <a:r>
              <a:rPr lang="zh-CN" sz="1000" b="1" dirty="0">
                <a:solidFill>
                  <a:srgbClr val="DBE6FA"/>
                </a:solidFill>
                <a:latin typeface="Microsoft YaHei"/>
                <a:ea typeface="Microsoft YaHei"/>
                <a:cs typeface="Microsoft YaHei"/>
              </a:rPr>
              <a:t>账单·核心表</a:t>
            </a:r>
          </a:p>
        </p:txBody>
      </p:sp>
      <p:sp>
        <p:nvSpPr>
          <p:cNvPr id="14" name="Shape 14"/>
          <p:cNvSpPr/>
          <p:nvPr/>
        </p:nvSpPr>
        <p:spPr>
          <a:xfrm>
            <a:off x="4667250" y="3333750"/>
            <a:ext cx="1428750" cy="4191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/>
          <p:cNvSpPr/>
          <p:nvPr/>
        </p:nvSpPr>
        <p:spPr>
          <a:xfrm>
            <a:off x="4667250" y="3333750"/>
            <a:ext cx="142875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81248" rIns="0" bIns="0" anchor="t" anchorCtr="0">
            <a:noAutofit/>
          </a:bodyPr>
          <a:lstStyle/>
          <a:p>
            <a:pPr algn="ctr">
              <a:lnSpc>
                <a:spcPts val="1010"/>
              </a:lnSpc>
            </a:pPr>
            <a:r>
              <a:rPr lang="en-US" sz="12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sessions</a:t>
            </a:r>
          </a:p>
          <a:p>
            <a:pPr algn="ctr">
              <a:lnSpc>
                <a:spcPts val="1010"/>
              </a:lnSpc>
            </a:pPr>
            <a:r>
              <a:rPr lang="zh-CN" sz="1000" b="1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AI 会话</a:t>
            </a:r>
          </a:p>
        </p:txBody>
      </p:sp>
      <p:sp>
        <p:nvSpPr>
          <p:cNvPr id="16" name="TextBox 16"/>
          <p:cNvSpPr/>
          <p:nvPr/>
        </p:nvSpPr>
        <p:spPr>
          <a:xfrm>
            <a:off x="1428750" y="2971800"/>
            <a:ext cx="7620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1:N 拥有</a:t>
            </a:r>
          </a:p>
        </p:txBody>
      </p:sp>
      <p:sp>
        <p:nvSpPr>
          <p:cNvPr id="17" name="Shape 17"/>
          <p:cNvSpPr/>
          <p:nvPr/>
        </p:nvSpPr>
        <p:spPr>
          <a:xfrm>
            <a:off x="2286000" y="2857500"/>
            <a:ext cx="9525" cy="571500"/>
          </a:xfrm>
          <a:prstGeom prst="rect">
            <a:avLst/>
          </a:prstGeom>
          <a:noFill/>
          <a:ln w="12700">
            <a:solidFill>
              <a:srgbClr val="4A5E7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/>
          <p:cNvSpPr/>
          <p:nvPr/>
        </p:nvSpPr>
        <p:spPr>
          <a:xfrm>
            <a:off x="3143250" y="2971800"/>
            <a:ext cx="7620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1:N 记账</a:t>
            </a:r>
          </a:p>
        </p:txBody>
      </p:sp>
      <p:sp>
        <p:nvSpPr>
          <p:cNvPr id="19" name="Shape 19"/>
          <p:cNvSpPr/>
          <p:nvPr/>
        </p:nvSpPr>
        <p:spPr>
          <a:xfrm>
            <a:off x="3619500" y="2857500"/>
            <a:ext cx="9525" cy="476250"/>
          </a:xfrm>
          <a:prstGeom prst="rect">
            <a:avLst/>
          </a:prstGeom>
          <a:noFill/>
          <a:ln w="12700">
            <a:solidFill>
              <a:srgbClr val="4A5E7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TextBox 20"/>
          <p:cNvSpPr/>
          <p:nvPr/>
        </p:nvSpPr>
        <p:spPr>
          <a:xfrm>
            <a:off x="4857750" y="2971800"/>
            <a:ext cx="7620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1:N 对话</a:t>
            </a:r>
          </a:p>
        </p:txBody>
      </p:sp>
      <p:sp>
        <p:nvSpPr>
          <p:cNvPr id="21" name="Shape 21"/>
          <p:cNvSpPr/>
          <p:nvPr/>
        </p:nvSpPr>
        <p:spPr>
          <a:xfrm>
            <a:off x="5334000" y="2857500"/>
            <a:ext cx="9525" cy="571500"/>
          </a:xfrm>
          <a:prstGeom prst="rect">
            <a:avLst/>
          </a:prstGeom>
          <a:noFill/>
          <a:ln w="12700">
            <a:solidFill>
              <a:srgbClr val="4A5E7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TextBox 22"/>
          <p:cNvSpPr/>
          <p:nvPr/>
        </p:nvSpPr>
        <p:spPr>
          <a:xfrm>
            <a:off x="1476375" y="3924300"/>
            <a:ext cx="16192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ctr"/>
            <a:r>
              <a:rPr lang="zh-CN" sz="1100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N:1 引用（RESTRICT）</a:t>
            </a:r>
          </a:p>
        </p:txBody>
      </p:sp>
      <p:sp>
        <p:nvSpPr>
          <p:cNvPr id="23" name="Shape 23"/>
          <p:cNvSpPr/>
          <p:nvPr/>
        </p:nvSpPr>
        <p:spPr>
          <a:xfrm>
            <a:off x="2571750" y="4191000"/>
            <a:ext cx="857250" cy="9525"/>
          </a:xfrm>
          <a:prstGeom prst="rect">
            <a:avLst/>
          </a:prstGeom>
          <a:noFill/>
          <a:ln w="12700">
            <a:solidFill>
              <a:srgbClr val="4A5E7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4" name="Shape 24"/>
          <p:cNvSpPr/>
          <p:nvPr/>
        </p:nvSpPr>
        <p:spPr>
          <a:xfrm>
            <a:off x="4667250" y="4476750"/>
            <a:ext cx="1428750" cy="4191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TextBox 25"/>
          <p:cNvSpPr/>
          <p:nvPr/>
        </p:nvSpPr>
        <p:spPr>
          <a:xfrm>
            <a:off x="4667250" y="4476750"/>
            <a:ext cx="142875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81248" rIns="0" bIns="0" anchor="t" anchorCtr="0">
            <a:noAutofit/>
          </a:bodyPr>
          <a:lstStyle/>
          <a:p>
            <a:pPr algn="ctr">
              <a:lnSpc>
                <a:spcPts val="1010"/>
              </a:lnSpc>
            </a:pPr>
            <a:r>
              <a:rPr lang="en-US" sz="12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messages</a:t>
            </a:r>
          </a:p>
          <a:p>
            <a:pPr algn="ctr">
              <a:lnSpc>
                <a:spcPts val="1010"/>
              </a:lnSpc>
            </a:pPr>
            <a:r>
              <a:rPr lang="zh-CN" sz="1000" b="1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消息</a:t>
            </a:r>
          </a:p>
        </p:txBody>
      </p:sp>
      <p:sp>
        <p:nvSpPr>
          <p:cNvPr id="26" name="Shape 26"/>
          <p:cNvSpPr/>
          <p:nvPr/>
        </p:nvSpPr>
        <p:spPr>
          <a:xfrm>
            <a:off x="5334000" y="4048125"/>
            <a:ext cx="9525" cy="381000"/>
          </a:xfrm>
          <a:prstGeom prst="rect">
            <a:avLst/>
          </a:prstGeom>
          <a:noFill/>
          <a:ln w="12700">
            <a:solidFill>
              <a:srgbClr val="4A5E7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7" name="TextBox 27"/>
          <p:cNvSpPr/>
          <p:nvPr/>
        </p:nvSpPr>
        <p:spPr>
          <a:xfrm>
            <a:off x="5476875" y="4114800"/>
            <a:ext cx="7620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1:N 归属</a:t>
            </a:r>
          </a:p>
        </p:txBody>
      </p:sp>
      <p:sp>
        <p:nvSpPr>
          <p:cNvPr id="28" name="Shape 28"/>
          <p:cNvSpPr/>
          <p:nvPr/>
        </p:nvSpPr>
        <p:spPr>
          <a:xfrm>
            <a:off x="4667250" y="5334000"/>
            <a:ext cx="1428750" cy="4191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9" name="TextBox 29"/>
          <p:cNvSpPr/>
          <p:nvPr/>
        </p:nvSpPr>
        <p:spPr>
          <a:xfrm>
            <a:off x="4667250" y="5334000"/>
            <a:ext cx="142875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59722" rIns="0" bIns="0" anchor="t" anchorCtr="0">
            <a:noAutofit/>
          </a:bodyPr>
          <a:lstStyle/>
          <a:p>
            <a:pPr algn="ctr">
              <a:lnSpc>
                <a:spcPts val="990"/>
              </a:lnSpc>
            </a:pPr>
            <a:r>
              <a:rPr lang="en-US" sz="12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feedback</a:t>
            </a:r>
          </a:p>
          <a:p>
            <a:pPr algn="ctr">
              <a:lnSpc>
                <a:spcPts val="990"/>
              </a:lnSpc>
            </a:pPr>
            <a:r>
              <a:rPr lang="zh-CN" sz="1000" b="1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点赞/点踩反馈</a:t>
            </a:r>
          </a:p>
        </p:txBody>
      </p:sp>
      <p:sp>
        <p:nvSpPr>
          <p:cNvPr id="30" name="Shape 30"/>
          <p:cNvSpPr/>
          <p:nvPr/>
        </p:nvSpPr>
        <p:spPr>
          <a:xfrm>
            <a:off x="5334000" y="4895850"/>
            <a:ext cx="9525" cy="428625"/>
          </a:xfrm>
          <a:prstGeom prst="rect">
            <a:avLst/>
          </a:prstGeom>
          <a:noFill/>
          <a:ln w="12700">
            <a:solidFill>
              <a:srgbClr val="4A5E7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1" name="TextBox 31"/>
          <p:cNvSpPr/>
          <p:nvPr/>
        </p:nvSpPr>
        <p:spPr>
          <a:xfrm>
            <a:off x="5476875" y="4991100"/>
            <a:ext cx="904875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挂在消息侧</a:t>
            </a:r>
          </a:p>
        </p:txBody>
      </p:sp>
      <p:sp>
        <p:nvSpPr>
          <p:cNvPr id="32" name="TextBox 32"/>
          <p:cNvSpPr/>
          <p:nvPr/>
        </p:nvSpPr>
        <p:spPr>
          <a:xfrm>
            <a:off x="1019175" y="607695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独立表：faq · 幂等日志 · user_token；新增会员域 3 表与充值域 2 表</a:t>
            </a:r>
          </a:p>
        </p:txBody>
      </p:sp>
      <p:sp>
        <p:nvSpPr>
          <p:cNvPr id="33" name="Shape 33"/>
          <p:cNvSpPr/>
          <p:nvPr/>
        </p:nvSpPr>
        <p:spPr>
          <a:xfrm>
            <a:off x="6429375" y="1828800"/>
            <a:ext cx="4762500" cy="142875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4" name="TextBox 34"/>
          <p:cNvSpPr/>
          <p:nvPr/>
        </p:nvSpPr>
        <p:spPr>
          <a:xfrm>
            <a:off x="6619875" y="1924050"/>
            <a:ext cx="4381500" cy="123825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>
              <a:lnSpc>
                <a:spcPts val="1445"/>
              </a:lnSpc>
            </a:pPr>
            <a:r>
              <a:rPr lang="zh-CN" sz="1700" b="1" dirty="0">
                <a:solidFill>
                  <a:srgbClr val="6FB1FF"/>
                </a:solidFill>
                <a:latin typeface="Microsoft YaHei"/>
                <a:ea typeface="Microsoft YaHei"/>
                <a:cs typeface="Microsoft YaHei"/>
              </a:rPr>
              <a:t>统一约定</a:t>
            </a:r>
          </a:p>
          <a:p>
            <a:pPr algn="l">
              <a:lnSpc>
                <a:spcPts val="1445"/>
              </a:lnSpc>
            </a:pPr>
            <a:r>
              <a:rPr lang="zh-CN" sz="14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单库 snake_case，对外 camelCase</a:t>
            </a:r>
          </a:p>
          <a:p>
            <a:pPr algn="l">
              <a:lnSpc>
                <a:spcPts val="1445"/>
              </a:lnSpc>
              <a:spcBef>
                <a:spcPts val="96"/>
              </a:spcBef>
            </a:pPr>
            <a:r>
              <a:rPr lang="zh-CN" sz="14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 xml:space="preserve">金额 </a:t>
            </a:r>
            <a:r>
              <a:rPr lang="en-US" sz="1400" b="1" dirty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DECIMAL(10,2)</a:t>
            </a:r>
            <a:r>
              <a:rPr lang="zh-CN" sz="14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，禁用浮点</a:t>
            </a:r>
          </a:p>
          <a:p>
            <a:pPr algn="l">
              <a:lnSpc>
                <a:spcPts val="1445"/>
              </a:lnSpc>
              <a:spcBef>
                <a:spcPts val="95"/>
              </a:spcBef>
            </a:pPr>
            <a:r>
              <a:rPr lang="zh-CN" sz="14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主键自增 BIGINT，会话三表沿用字符串主键</a:t>
            </a:r>
          </a:p>
        </p:txBody>
      </p:sp>
      <p:sp>
        <p:nvSpPr>
          <p:cNvPr id="35" name="Shape 35"/>
          <p:cNvSpPr/>
          <p:nvPr/>
        </p:nvSpPr>
        <p:spPr>
          <a:xfrm>
            <a:off x="6429375" y="3543300"/>
            <a:ext cx="4762500" cy="1762125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grpSp>
        <p:nvGrpSpPr>
          <p:cNvPr id="61" name="TextBox 36"/>
          <p:cNvGrpSpPr/>
          <p:nvPr/>
        </p:nvGrpSpPr>
        <p:grpSpPr>
          <a:xfrm>
            <a:off x="6611238" y="3638550"/>
            <a:ext cx="4390137" cy="1571625"/>
            <a:chOff x="6611238" y="3638550"/>
            <a:chExt cx="4390137" cy="1571625"/>
          </a:xfrm>
        </p:grpSpPr>
        <p:sp>
          <p:nvSpPr>
            <p:cNvPr id="54" name="Freeform 54"/>
            <p:cNvSpPr/>
            <p:nvPr/>
          </p:nvSpPr>
          <p:spPr>
            <a:xfrm>
              <a:off x="6619875" y="3638550"/>
              <a:ext cx="4381500" cy="1571625"/>
            </a:xfrm>
            <a:custGeom>
              <a:avLst/>
              <a:gdLst/>
              <a:ahLst/>
              <a:cxnLst/>
              <a:rect l="l" t="t" r="r" b="b"/>
              <a:pathLst>
                <a:path w="4381500" h="1571625">
                  <a:moveTo>
                    <a:pt x="0" y="0"/>
                  </a:moveTo>
                  <a:lnTo>
                    <a:pt x="4381500" y="0"/>
                  </a:lnTo>
                  <a:lnTo>
                    <a:pt x="4381500" y="1571625"/>
                  </a:lnTo>
                  <a:lnTo>
                    <a:pt x="0" y="1571625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611238" y="3638555"/>
              <a:ext cx="1619253" cy="3325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00" b="1" dirty="0">
                  <a:solidFill>
                    <a:srgbClr val="6FB1FF"/>
                  </a:solidFill>
                  <a:latin typeface="Microsoft YaHei"/>
                  <a:ea typeface="Microsoft YaHei"/>
                  <a:cs typeface="Microsoft YaHei"/>
                </a:rPr>
                <a:t>索引与外键策略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612762" y="3854391"/>
              <a:ext cx="3764740" cy="2738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E8EEF9"/>
                  </a:solidFill>
                  <a:latin typeface="Microsoft YaHei"/>
                  <a:ea typeface="Microsoft YaHei"/>
                  <a:cs typeface="Microsoft YaHei"/>
                </a:rPr>
                <a:t>records：(user_id, date) 等三条复合索引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612762" y="4050035"/>
              <a:ext cx="3566848" cy="2738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E8EEF9"/>
                  </a:solidFill>
                  <a:latin typeface="Microsoft YaHei"/>
                  <a:ea typeface="Microsoft YaHei"/>
                  <a:cs typeface="Microsoft YaHei"/>
                </a:rPr>
                <a:t>categories、sessions/messages 各一组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612762" y="4441131"/>
              <a:ext cx="3161998" cy="2738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E8EEF9"/>
                  </a:solidFill>
                  <a:latin typeface="Microsoft YaHei"/>
                  <a:ea typeface="Microsoft YaHei"/>
                  <a:cs typeface="Microsoft YaHei"/>
                </a:rPr>
                <a:t>账单对分类 RESTRICT：有引用不可删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612762" y="4636775"/>
              <a:ext cx="2841247" cy="2738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E8EEF9"/>
                  </a:solidFill>
                  <a:latin typeface="Microsoft YaHei"/>
                  <a:ea typeface="Microsoft YaHei"/>
                  <a:cs typeface="Microsoft YaHei"/>
                </a:rPr>
                <a:t>账单保留分类标识，删改后可追溯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12762" y="4832323"/>
              <a:ext cx="3269389" cy="2738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E8EEF9"/>
                  </a:solidFill>
                  <a:latin typeface="Microsoft YaHei"/>
                  <a:ea typeface="Microsoft YaHei"/>
                  <a:cs typeface="Microsoft YaHei"/>
                </a:rPr>
                <a:t>FAQ 向量索引驻留进程内存，重启重建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fast" advClick="1" p14:dur="400">
        <p:fade/>
      </p:transition>
    </mc:Choice>
    <mc:Fallback>
      <p:transition spd="fast" advClick="1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/>
          <p:nvPr/>
        </p:nvSpPr>
        <p:spPr>
          <a:xfrm>
            <a:off x="1019175" y="495300"/>
            <a:ext cx="10163175" cy="428625"/>
          </a:xfrm>
          <a:prstGeom prst="rect">
            <a:avLst/>
          </a:prstGeom>
          <a:noFill/>
          <a:ln>
            <a:noFill/>
          </a:ln>
        </p:spPr>
        <p:txBody>
          <a:bodyPr wrap="none" lIns="0" tIns="-5" rIns="0" bIns="0" anchor="t" anchorCtr="0">
            <a:noAutofit/>
          </a:bodyPr>
          <a:lstStyle/>
          <a:p>
            <a:pPr algn="l"/>
            <a:r>
              <a:rPr lang="zh-CN" sz="2800" b="1" dirty="0">
                <a:solidFill>
                  <a:srgbClr val="6FB1FF"/>
                </a:solidFill>
                <a:latin typeface="微软雅黑"/>
                <a:ea typeface="Microsoft YaHei"/>
                <a:cs typeface="微软雅黑"/>
              </a:rPr>
              <a:t>AI 流式对话：五步链路，上下文自动注入真实账单</a:t>
            </a:r>
          </a:p>
        </p:txBody>
      </p:sp>
      <p:sp>
        <p:nvSpPr>
          <p:cNvPr id="4" name="TextBox 4"/>
          <p:cNvSpPr/>
          <p:nvPr/>
        </p:nvSpPr>
        <p:spPr>
          <a:xfrm>
            <a:off x="1019175" y="1238250"/>
            <a:ext cx="1016317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800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05　技术路线与实施方案　·　核心业务流程</a:t>
            </a:r>
          </a:p>
        </p:txBody>
      </p:sp>
      <p:sp>
        <p:nvSpPr>
          <p:cNvPr id="5" name="Shape 5"/>
          <p:cNvSpPr/>
          <p:nvPr/>
        </p:nvSpPr>
        <p:spPr>
          <a:xfrm>
            <a:off x="1019175" y="6400800"/>
            <a:ext cx="10163175" cy="9525"/>
          </a:xfrm>
          <a:prstGeom prst="rect">
            <a:avLst/>
          </a:prstGeom>
          <a:noFill/>
          <a:ln w="12700">
            <a:solidFill>
              <a:srgbClr val="2639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9753600" y="6448425"/>
            <a:ext cx="14287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r"/>
            <a:r>
              <a:rPr lang="en-US" sz="1400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17 / 23</a:t>
            </a:r>
          </a:p>
        </p:txBody>
      </p:sp>
      <p:sp>
        <p:nvSpPr>
          <p:cNvPr id="7" name="Shape 7"/>
          <p:cNvSpPr/>
          <p:nvPr/>
        </p:nvSpPr>
        <p:spPr>
          <a:xfrm>
            <a:off x="1019175" y="1828800"/>
            <a:ext cx="5200650" cy="1571625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1238250" y="1952625"/>
            <a:ext cx="4762500" cy="133350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>
              <a:lnSpc>
                <a:spcPts val="1530"/>
              </a:lnSpc>
            </a:pPr>
            <a:r>
              <a:rPr lang="zh-CN" sz="1700" b="1" dirty="0">
                <a:solidFill>
                  <a:srgbClr val="6FB1FF"/>
                </a:solidFill>
                <a:latin typeface="Microsoft YaHei"/>
                <a:ea typeface="Microsoft YaHei"/>
                <a:cs typeface="Microsoft YaHei"/>
              </a:rPr>
              <a:t>请求处理五步</a:t>
            </a:r>
          </a:p>
          <a:p>
            <a:pPr algn="l">
              <a:lnSpc>
                <a:spcPts val="1530"/>
              </a:lnSpc>
            </a:pPr>
            <a:r>
              <a:rPr lang="zh-CN" sz="15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① 身份校验　② 会话归属校验　③ 上下文组装</a:t>
            </a:r>
          </a:p>
          <a:p>
            <a:pPr algn="l">
              <a:lnSpc>
                <a:spcPts val="1530"/>
              </a:lnSpc>
              <a:spcBef>
                <a:spcPts val="345"/>
              </a:spcBef>
            </a:pPr>
            <a:r>
              <a:rPr lang="zh-CN" sz="15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④ 历史消息装配　⑤ 模型调用并逐块转发</a:t>
            </a:r>
          </a:p>
          <a:p>
            <a:pPr algn="l">
              <a:lnSpc>
                <a:spcPts val="1530"/>
              </a:lnSpc>
              <a:spcBef>
                <a:spcPts val="345"/>
              </a:spcBef>
            </a:pPr>
            <a:r>
              <a:rPr lang="zh-CN" sz="1500" b="1" dirty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归属校验须在生成器启动前完成</a:t>
            </a:r>
          </a:p>
        </p:txBody>
      </p:sp>
      <p:sp>
        <p:nvSpPr>
          <p:cNvPr id="9" name="Shape 9"/>
          <p:cNvSpPr/>
          <p:nvPr/>
        </p:nvSpPr>
        <p:spPr>
          <a:xfrm>
            <a:off x="1019175" y="3571875"/>
            <a:ext cx="5200650" cy="1285875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1238250" y="3695700"/>
            <a:ext cx="4762500" cy="104775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>
              <a:lnSpc>
                <a:spcPts val="1530"/>
              </a:lnSpc>
            </a:pPr>
            <a:r>
              <a:rPr lang="zh-CN" sz="1700" b="1" dirty="0">
                <a:solidFill>
                  <a:srgbClr val="6FB1FF"/>
                </a:solidFill>
                <a:latin typeface="Microsoft YaHei"/>
                <a:ea typeface="Microsoft YaHei"/>
                <a:cs typeface="Microsoft YaHei"/>
              </a:rPr>
              <a:t>财务上下文内容</a:t>
            </a:r>
          </a:p>
          <a:p>
            <a:pPr algn="l">
              <a:lnSpc>
                <a:spcPts val="1530"/>
              </a:lnSpc>
            </a:pPr>
            <a:r>
              <a:rPr lang="zh-CN" sz="15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当月收支汇总 + 上月环比 + Top5 分类</a:t>
            </a:r>
          </a:p>
          <a:p>
            <a:pPr algn="l">
              <a:lnSpc>
                <a:spcPts val="1530"/>
              </a:lnSpc>
              <a:spcBef>
                <a:spcPts val="345"/>
              </a:spcBef>
            </a:pPr>
            <a:r>
              <a:rPr lang="zh-CN" sz="15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使对话基于用户真实账单数据</a:t>
            </a:r>
          </a:p>
        </p:txBody>
      </p:sp>
      <p:sp>
        <p:nvSpPr>
          <p:cNvPr id="11" name="Shape 11"/>
          <p:cNvSpPr/>
          <p:nvPr/>
        </p:nvSpPr>
        <p:spPr>
          <a:xfrm>
            <a:off x="1019175" y="5029200"/>
            <a:ext cx="5200650" cy="1143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/>
          <p:cNvSpPr/>
          <p:nvPr/>
        </p:nvSpPr>
        <p:spPr>
          <a:xfrm>
            <a:off x="1238250" y="5143500"/>
            <a:ext cx="4762500" cy="904875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>
              <a:lnSpc>
                <a:spcPts val="1530"/>
              </a:lnSpc>
            </a:pPr>
            <a:r>
              <a:rPr lang="zh-CN" sz="1700" b="1" dirty="0">
                <a:solidFill>
                  <a:srgbClr val="6FB1FF"/>
                </a:solidFill>
                <a:latin typeface="Microsoft YaHei"/>
                <a:ea typeface="Microsoft YaHei"/>
                <a:cs typeface="Microsoft YaHei"/>
              </a:rPr>
              <a:t>上下文成本控制（滑动窗口）</a:t>
            </a:r>
          </a:p>
          <a:p>
            <a:pPr algn="l">
              <a:lnSpc>
                <a:spcPts val="1530"/>
              </a:lnSpc>
            </a:pPr>
            <a:r>
              <a:rPr lang="zh-CN" sz="15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 xml:space="preserve">预算 </a:t>
            </a:r>
            <a:r>
              <a:rPr lang="en-US" sz="1500" b="1" dirty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2000 token</a:t>
            </a:r>
            <a:r>
              <a:rPr lang="zh-CN" sz="15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 xml:space="preserve">、最多保留 </a:t>
            </a:r>
            <a:r>
              <a:rPr lang="zh-CN" sz="1500" b="1" dirty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6 条历史消息</a:t>
            </a:r>
          </a:p>
        </p:txBody>
      </p:sp>
      <p:sp>
        <p:nvSpPr>
          <p:cNvPr id="13" name="TextBox 13"/>
          <p:cNvSpPr/>
          <p:nvPr/>
        </p:nvSpPr>
        <p:spPr>
          <a:xfrm>
            <a:off x="6677025" y="1828800"/>
            <a:ext cx="44958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-5" rIns="0" bIns="0" anchor="t" anchorCtr="0">
            <a:noAutofit/>
          </a:bodyPr>
          <a:lstStyle/>
          <a:p>
            <a:pPr algn="l"/>
            <a:r>
              <a:rPr lang="zh-CN" sz="1900" b="1" dirty="0">
                <a:solidFill>
                  <a:srgbClr val="6FB1FF"/>
                </a:solidFill>
                <a:latin typeface="Microsoft YaHei"/>
                <a:ea typeface="Microsoft YaHei"/>
                <a:cs typeface="Microsoft YaHei"/>
              </a:rPr>
              <a:t>上下文数据流</a:t>
            </a:r>
          </a:p>
        </p:txBody>
      </p:sp>
      <p:sp>
        <p:nvSpPr>
          <p:cNvPr id="14" name="Shape 14"/>
          <p:cNvSpPr/>
          <p:nvPr/>
        </p:nvSpPr>
        <p:spPr>
          <a:xfrm>
            <a:off x="6677025" y="2286000"/>
            <a:ext cx="1905000" cy="47625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/>
          <p:cNvSpPr/>
          <p:nvPr/>
        </p:nvSpPr>
        <p:spPr>
          <a:xfrm>
            <a:off x="6677025" y="2381250"/>
            <a:ext cx="1905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5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账单记录</a:t>
            </a:r>
          </a:p>
        </p:txBody>
      </p:sp>
      <p:sp>
        <p:nvSpPr>
          <p:cNvPr id="16" name="Shape 16"/>
          <p:cNvSpPr/>
          <p:nvPr/>
        </p:nvSpPr>
        <p:spPr>
          <a:xfrm>
            <a:off x="8582025" y="2524125"/>
            <a:ext cx="152400" cy="9525"/>
          </a:xfrm>
          <a:prstGeom prst="rect">
            <a:avLst/>
          </a:prstGeom>
          <a:noFill/>
          <a:ln w="12700">
            <a:solidFill>
              <a:srgbClr val="4A5E7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Shape 17"/>
          <p:cNvSpPr/>
          <p:nvPr/>
        </p:nvSpPr>
        <p:spPr>
          <a:xfrm>
            <a:off x="6677025" y="2933700"/>
            <a:ext cx="1905000" cy="47625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/>
          <p:cNvSpPr/>
          <p:nvPr/>
        </p:nvSpPr>
        <p:spPr>
          <a:xfrm>
            <a:off x="6677025" y="3028950"/>
            <a:ext cx="1905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5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月度统计</a:t>
            </a:r>
          </a:p>
        </p:txBody>
      </p:sp>
      <p:sp>
        <p:nvSpPr>
          <p:cNvPr id="19" name="Shape 19"/>
          <p:cNvSpPr/>
          <p:nvPr/>
        </p:nvSpPr>
        <p:spPr>
          <a:xfrm>
            <a:off x="8582025" y="3171825"/>
            <a:ext cx="152400" cy="9525"/>
          </a:xfrm>
          <a:prstGeom prst="rect">
            <a:avLst/>
          </a:prstGeom>
          <a:noFill/>
          <a:ln w="12700">
            <a:solidFill>
              <a:srgbClr val="4A5E7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Shape 20"/>
          <p:cNvSpPr/>
          <p:nvPr/>
        </p:nvSpPr>
        <p:spPr>
          <a:xfrm>
            <a:off x="6677025" y="3581400"/>
            <a:ext cx="1905000" cy="47625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TextBox 21"/>
          <p:cNvSpPr/>
          <p:nvPr/>
        </p:nvSpPr>
        <p:spPr>
          <a:xfrm>
            <a:off x="6677025" y="3676650"/>
            <a:ext cx="1905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5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Top5 分类</a:t>
            </a:r>
          </a:p>
        </p:txBody>
      </p:sp>
      <p:sp>
        <p:nvSpPr>
          <p:cNvPr id="22" name="Shape 22"/>
          <p:cNvSpPr/>
          <p:nvPr/>
        </p:nvSpPr>
        <p:spPr>
          <a:xfrm>
            <a:off x="8582025" y="3819525"/>
            <a:ext cx="152400" cy="9525"/>
          </a:xfrm>
          <a:prstGeom prst="rect">
            <a:avLst/>
          </a:prstGeom>
          <a:noFill/>
          <a:ln w="12700">
            <a:solidFill>
              <a:srgbClr val="4A5E7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Shape 23"/>
          <p:cNvSpPr/>
          <p:nvPr/>
        </p:nvSpPr>
        <p:spPr>
          <a:xfrm>
            <a:off x="8734425" y="2524125"/>
            <a:ext cx="9525" cy="1295400"/>
          </a:xfrm>
          <a:prstGeom prst="rect">
            <a:avLst/>
          </a:prstGeom>
          <a:noFill/>
          <a:ln w="12700">
            <a:solidFill>
              <a:srgbClr val="4A5E7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4" name="Shape 24"/>
          <p:cNvSpPr/>
          <p:nvPr/>
        </p:nvSpPr>
        <p:spPr>
          <a:xfrm>
            <a:off x="8734425" y="3171825"/>
            <a:ext cx="171450" cy="9525"/>
          </a:xfrm>
          <a:prstGeom prst="rect">
            <a:avLst/>
          </a:prstGeom>
          <a:noFill/>
          <a:ln w="12700">
            <a:solidFill>
              <a:srgbClr val="4A5E7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Shape 25"/>
          <p:cNvSpPr/>
          <p:nvPr/>
        </p:nvSpPr>
        <p:spPr>
          <a:xfrm>
            <a:off x="8905875" y="2933700"/>
            <a:ext cx="1905000" cy="47625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6" name="TextBox 26"/>
          <p:cNvSpPr/>
          <p:nvPr/>
        </p:nvSpPr>
        <p:spPr>
          <a:xfrm>
            <a:off x="8905875" y="3028950"/>
            <a:ext cx="1905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500" dirty="0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rPr>
              <a:t>上下文组装</a:t>
            </a:r>
          </a:p>
        </p:txBody>
      </p:sp>
      <p:sp>
        <p:nvSpPr>
          <p:cNvPr id="27" name="Shape 27"/>
          <p:cNvSpPr/>
          <p:nvPr/>
        </p:nvSpPr>
        <p:spPr>
          <a:xfrm>
            <a:off x="9858375" y="3409950"/>
            <a:ext cx="9525" cy="323850"/>
          </a:xfrm>
          <a:prstGeom prst="rect">
            <a:avLst/>
          </a:prstGeom>
          <a:noFill/>
          <a:ln w="25400">
            <a:solidFill>
              <a:srgbClr val="38BDF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8" name="Shape 28"/>
          <p:cNvSpPr/>
          <p:nvPr/>
        </p:nvSpPr>
        <p:spPr>
          <a:xfrm>
            <a:off x="9782175" y="3695700"/>
            <a:ext cx="152400" cy="133350"/>
          </a:xfrm>
          <a:prstGeom prst="triangle">
            <a:avLst/>
          </a:prstGeom>
          <a:solidFill>
            <a:srgbClr val="1E40AF"/>
          </a:solidFill>
          <a:ln>
            <a:noFill/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9" name="Shape 29"/>
          <p:cNvSpPr/>
          <p:nvPr/>
        </p:nvSpPr>
        <p:spPr>
          <a:xfrm>
            <a:off x="8905875" y="3829050"/>
            <a:ext cx="1905000" cy="47625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0" name="TextBox 30"/>
          <p:cNvSpPr/>
          <p:nvPr/>
        </p:nvSpPr>
        <p:spPr>
          <a:xfrm>
            <a:off x="8905875" y="3924300"/>
            <a:ext cx="1905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5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SSE 增量输出</a:t>
            </a:r>
          </a:p>
        </p:txBody>
      </p:sp>
      <p:sp>
        <p:nvSpPr>
          <p:cNvPr id="31" name="Shape 31"/>
          <p:cNvSpPr/>
          <p:nvPr/>
        </p:nvSpPr>
        <p:spPr>
          <a:xfrm>
            <a:off x="6677025" y="4552950"/>
            <a:ext cx="4133850" cy="142875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2" name="TextBox 32"/>
          <p:cNvSpPr/>
          <p:nvPr/>
        </p:nvSpPr>
        <p:spPr>
          <a:xfrm>
            <a:off x="6858000" y="4667250"/>
            <a:ext cx="3810000" cy="1190625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>
              <a:lnSpc>
                <a:spcPts val="1530"/>
              </a:lnSpc>
            </a:pPr>
            <a:r>
              <a:rPr lang="zh-CN" sz="1700" b="1" dirty="0">
                <a:solidFill>
                  <a:srgbClr val="6FB1FF"/>
                </a:solidFill>
                <a:latin typeface="Microsoft YaHei"/>
                <a:ea typeface="Microsoft YaHei"/>
                <a:cs typeface="Microsoft YaHei"/>
              </a:rPr>
              <a:t>为什么注入真实账单</a:t>
            </a:r>
          </a:p>
          <a:p>
            <a:pPr algn="l">
              <a:lnSpc>
                <a:spcPts val="1530"/>
              </a:lnSpc>
            </a:pPr>
            <a:r>
              <a:rPr lang="zh-CN" sz="15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对话、分析、预算三类能力共用同一条</a:t>
            </a:r>
          </a:p>
          <a:p>
            <a:pPr algn="l">
              <a:lnSpc>
                <a:spcPts val="1530"/>
              </a:lnSpc>
              <a:spcBef>
                <a:spcPts val="345"/>
              </a:spcBef>
            </a:pPr>
            <a:r>
              <a:rPr lang="zh-CN" sz="15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上下文链路；也是 V4 实验的验证对象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fast" advClick="1" p14:dur="400">
        <p:fade/>
      </p:transition>
    </mc:Choice>
    <mc:Fallback>
      <p:transition spd="fast" advClick="1">
        <p:fade/>
      </p:transition>
    </mc:Fallback>
  </mc:AlternateContent>
</p:sld>
</file>

<file path=ppt/slides/slide18.xml><?xml version="1.0" encoding="utf-8"?>
<p:sld xmlns:a="http://schemas.openxmlformats.org/drawingml/2006/main" xmlns:a16="http://schemas.microsoft.com/office/drawing/2014/main" xmlns:p="http://schemas.openxmlformats.org/presentationml/2006/main">
  <p:cSld>
    <p:bg>
      <p:bgPr>
        <a:solidFill>
          <a:srgbClr val="0B122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16000" y="500000"/>
            <a:ext cx="10160000" cy="6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四项验证：V1—V3 为确定性工程验证，V4 为对照实验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190000"/>
            <a:ext cx="101600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05　技术路线与实施方案　·　测试验证方案与统计分析计划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6400000"/>
            <a:ext cx="10160000" cy="9525"/>
          </a:xfrm>
          <a:prstGeom prst="rect">
            <a:avLst/>
          </a:prstGeom>
          <a:solidFill>
            <a:srgbClr val="18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>
            <a:extLst>
              <a:ext uri="{FF2B5EF4-FFF2-40B4-BE49-F238E27FC236}">
                <a16:creationId id="{0EC0569F-B228-4A84-BF4A-3793E8E2F880}"/>
              </a:ext>
            </a:extLst>
          </p:cNvPr>
          <p:cNvSpPr txBox="1"/>
          <p:nvPr/>
        </p:nvSpPr>
        <p:spPr>
          <a:xfrm>
            <a:off x="9350000" y="6450000"/>
            <a:ext cx="1866000" cy="308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18 / 23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id="{7A0C8317-E0D5-46BD-BC9D-EA84F2086E91}"/>
              </a:ext>
            </a:extLst>
          </p:cNvPr>
          <p:cNvGraphicFramePr>
            <a:graphicFrameLocks noGrp="1"/>
          </p:cNvGraphicFramePr>
          <p:nvPr/>
        </p:nvGraphicFramePr>
        <p:xfrm>
          <a:off x="1016000" y="2090000"/>
          <a:ext cx="10160000" cy="374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50000"/>
                <a:gridCol w="1800000"/>
                <a:gridCol w="3900000"/>
                <a:gridCol w="3710000"/>
              </a:tblGrid>
              <a:tr h="42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1">
                          <a:solidFill>
                            <a:srgbClr val="F4F8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编号</a:t>
                      </a:r>
                    </a:p>
                  </a:txBody>
                  <a:tcPr marL="73152" marR="73152" marT="18288" marB="18288">
                    <a:solidFill>
                      <a:srgbClr val="1E40AF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1">
                          <a:solidFill>
                            <a:srgbClr val="F4F8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验证对象</a:t>
                      </a:r>
                    </a:p>
                  </a:txBody>
                  <a:tcPr marL="73152" marR="73152" marT="18288" marB="18288">
                    <a:solidFill>
                      <a:srgbClr val="1E40AF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1">
                          <a:solidFill>
                            <a:srgbClr val="F4F8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方法设计</a:t>
                      </a:r>
                    </a:p>
                  </a:txBody>
                  <a:tcPr marL="73152" marR="73152" marT="18288" marB="18288">
                    <a:solidFill>
                      <a:srgbClr val="1E40AF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1">
                          <a:solidFill>
                            <a:srgbClr val="F4F8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验收口径</a:t>
                      </a:r>
                    </a:p>
                  </a:txBody>
                  <a:tcPr marL="73152" marR="73152" marT="18288" marB="18288">
                    <a:solidFill>
                      <a:srgbClr val="1E40AF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83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V1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结构化输出校验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五类畸形各 10 例 + 正常 50 例；三级对照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非法落库数为零；误拦率 ≤ 5%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83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V2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检索降级可用性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 条查询集（15/10/5）；Embedding 三态注入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非空返回率 100%，响应结构一致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83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V3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幂等记账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并发重放四组：同 client_msg_id 重放 10 次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records 表仅新增 1 条，形态符合预期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83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V4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上下文组装质量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 画像 × 5 类共 50 题；两条件各调用 3 次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配对 t 检验：d=0.5、α=0.05、n=50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1016000" y="5753696"/>
            <a:ext cx="10160000" cy="526304"/>
          </a:xfrm>
          <a:prstGeom prst="rect">
            <a:avLst/>
          </a:prstGeom>
          <a:solidFill>
            <a:srgbClr val="0D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7168" y="5826848"/>
            <a:ext cx="9757664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V1—V3 为确定性验证；V4 采用对照实验并预先锁定统计分析计划。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fast" advClick="1" p14:dur="400">
        <p:fade/>
      </p:transition>
    </mc:Choice>
    <mc:Fallback>
      <p:transition spd="fast" advClick="1">
        <p:fade/>
      </p:transition>
    </mc:Fallback>
  </mc:AlternateContent>
</p:sld>
</file>

<file path=ppt/slides/slide19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500000"/>
            <a:ext cx="10160000" cy="6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技术、数据、经济、进度四维均有支撑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190000"/>
            <a:ext cx="101600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06　可行性分析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6400000"/>
            <a:ext cx="10160000" cy="9525"/>
          </a:xfrm>
          <a:prstGeom prst="rect">
            <a:avLst/>
          </a:prstGeom>
          <a:solidFill>
            <a:srgbClr val="18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>
            <a:extLst>
              <a:ext uri="{FF2B5EF4-FFF2-40B4-BE49-F238E27FC236}">
                <a16:creationId id="{24ECE7BA-A11D-4E72-BB6D-7F4CE2F2CCD4}"/>
              </a:ext>
            </a:extLst>
          </p:cNvPr>
          <p:cNvSpPr txBox="1"/>
          <p:nvPr/>
        </p:nvSpPr>
        <p:spPr>
          <a:xfrm>
            <a:off x="9350000" y="6450000"/>
            <a:ext cx="1866000" cy="308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19 / 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6000" y="2090000"/>
            <a:ext cx="5200000" cy="174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17168" y="2190000"/>
            <a:ext cx="4852528" cy="1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01　技术可行性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全栈成熟开源生态，文档社区完善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三进程原型已验证产品形态与路线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关键机制已有可运行验证代码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80000" y="2090000"/>
            <a:ext cx="4496000" cy="174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>
            <a:extLst>
              <a:ext uri="{FF2B5EF4-FFF2-40B4-BE49-F238E27FC236}">
                <a16:creationId id="{CDE279C5-2A52-46FA-B315-039A961995A1}"/>
              </a:ext>
            </a:extLst>
          </p:cNvPr>
          <p:cNvSpPr txBox="1"/>
          <p:nvPr/>
        </p:nvSpPr>
        <p:spPr>
          <a:xfrm>
            <a:off x="6881168" y="2190000"/>
            <a:ext cx="4148528" cy="12600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02　数据可行性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账单自产，V4 用合成画像无隐私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FAQ 内置 8 条种子，管理端可扩充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V1 / V2 用例集自建，规则可复现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6000" y="3950000"/>
            <a:ext cx="5200000" cy="174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17168" y="4050000"/>
            <a:ext cx="4852528" cy="1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03　经济可行性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全链路开源免费，无授权硬件投入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LLM 按量计费，上下文预算控成本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关键词降级降低外部服务依赖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80000" y="3950000"/>
            <a:ext cx="4496000" cy="174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81168" y="4050000"/>
            <a:ext cx="4148528" cy="1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04　进度与实施可行性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六阶段约九个月，编码测试留缓冲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CI 三阶段 + Docker 环境一致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主要风险均有 V1—V4 验证方案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6000" y="5753696"/>
            <a:ext cx="10160000" cy="526304"/>
          </a:xfrm>
          <a:prstGeom prst="rect">
            <a:avLst/>
          </a:prstGeom>
          <a:solidFill>
            <a:srgbClr val="0D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17168" y="5826848"/>
            <a:ext cx="9757664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结论：课题在现有技术、数据与时间预算内可完成，主要风险已识别并配有对应方案。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fast" advClick="1" p14:dur="400">
        <p:fade/>
      </p:transition>
    </mc:Choice>
    <mc:Fallback>
      <p:transition spd="fast" advClick="1">
        <p:fade/>
      </p:transition>
    </mc:Fallback>
  </mc:AlternateContent>
</p:sld>
</file>

<file path=ppt/slides/slide20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500000"/>
            <a:ext cx="10160000" cy="6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三处关键实现：异步会话、定点金额、结构化输出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190000"/>
            <a:ext cx="101600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07　关键技术与代码实现（节选）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6400000"/>
            <a:ext cx="10160000" cy="9525"/>
          </a:xfrm>
          <a:prstGeom prst="rect">
            <a:avLst/>
          </a:prstGeom>
          <a:solidFill>
            <a:srgbClr val="18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>
            <a:extLst>
              <a:ext uri="{FF2B5EF4-FFF2-40B4-BE49-F238E27FC236}">
                <a16:creationId id="{9FA92659-D78F-4649-ADC7-D9DAC74F8D8A}"/>
              </a:ext>
            </a:extLst>
          </p:cNvPr>
          <p:cNvSpPr txBox="1"/>
          <p:nvPr/>
        </p:nvSpPr>
        <p:spPr>
          <a:xfrm>
            <a:off x="9350000" y="6450000"/>
            <a:ext cx="1866000" cy="308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20 / 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6000" y="2090000"/>
            <a:ext cx="10160000" cy="1281168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>
            <a:extLst>
              <a:ext uri="{FF2B5EF4-FFF2-40B4-BE49-F238E27FC236}">
                <a16:creationId id="{F862DFEF-FC48-4041-9E23-AE840784A139}"/>
              </a:ext>
            </a:extLst>
          </p:cNvPr>
          <p:cNvSpPr txBox="1"/>
          <p:nvPr/>
        </p:nvSpPr>
        <p:spPr>
          <a:xfrm>
            <a:off x="1217168" y="2190584"/>
            <a:ext cx="9757664" cy="3385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5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① 全异步数据访问（db_config.py）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7168" y="2590584"/>
            <a:ext cx="9757664" cy="6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create_async_engine + get_db 依赖注入，异常必回滚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expire_on_commit=False 避免序列化阶段触发同步 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6000" y="3461168"/>
            <a:ext cx="10160000" cy="1281168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7168" y="3561752"/>
            <a:ext cx="9757664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② 金额精度与模型约束（record.py）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7168" y="3961752"/>
            <a:ext cx="9757664" cy="6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amount: Numeric(10, 2)，Python 侧用 Decimal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status 承载软删语义；外键 RESTRICT 保护分类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6000" y="4832336"/>
            <a:ext cx="10160000" cy="1281168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7168" y="4932920"/>
            <a:ext cx="9757664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③ 结构化输出与 SSE（llm.py、routers/ai.py）</a:t>
            </a:r>
          </a:p>
        </p:txBody>
      </p:sp>
      <p:sp>
        <p:nvSpPr>
          <p:cNvPr id="14" name="TextBox 13"/>
          <p:cNvSpPr/>
          <p:nvPr/>
        </p:nvSpPr>
        <p:spPr>
          <a:xfrm>
            <a:off x="1217200" y="5332952"/>
            <a:ext cx="9757696" cy="10195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2100"/>
              </a:lnSpc>
            </a:pPr>
            <a:r>
              <a:rPr lang="zh-CN" sz="1800" dirty="0">
                <a:solidFill>
                  <a:srgbClr val="6FB1FF"/>
                </a:solidFill>
                <a:latin typeface="Microsoft YaHei"/>
                <a:ea typeface="Microsoft YaHei"/>
                <a:cs typeface="Microsoft YaHei"/>
              </a:rPr>
              <a:t>分析模型 temperature=0 + with_structured_output</a:t>
            </a:r>
          </a:p>
          <a:p>
            <a:pPr algn="l">
              <a:lnSpc>
                <a:spcPts val="2100"/>
              </a:lnSpc>
              <a:spcBef>
                <a:spcPts val="270"/>
              </a:spcBef>
            </a:pPr>
            <a:r>
              <a:rPr lang="zh-CN" sz="18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校验失败返回错误响应、</a:t>
            </a:r>
            <a:r>
              <a:rPr lang="zh-CN" sz="1800" dirty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账单不落库</a:t>
            </a:r>
            <a:r>
              <a:rPr lang="zh-CN" sz="18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，不确定性隔离在单次请求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fast" advClick="1" p14:dur="400">
        <p:fade/>
      </p:transition>
    </mc:Choice>
    <mc:Fallback>
      <p:transition spd="fast" advClick="1">
        <p:fade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/>
          <p:nvPr/>
        </p:nvSpPr>
        <p:spPr>
          <a:xfrm>
            <a:off x="1019175" y="495300"/>
            <a:ext cx="10163175" cy="428625"/>
          </a:xfrm>
          <a:prstGeom prst="rect">
            <a:avLst/>
          </a:prstGeom>
          <a:noFill/>
          <a:ln>
            <a:noFill/>
          </a:ln>
        </p:spPr>
        <p:txBody>
          <a:bodyPr wrap="none" lIns="0" tIns="-5" rIns="0" bIns="0" anchor="t" anchorCtr="0">
            <a:noAutofit/>
          </a:bodyPr>
          <a:lstStyle/>
          <a:p>
            <a:pPr algn="l"/>
            <a:r>
              <a:rPr lang="zh-CN" sz="2800" b="1" dirty="0">
                <a:solidFill>
                  <a:srgbClr val="6FB1FF"/>
                </a:solidFill>
                <a:latin typeface="微软雅黑"/>
                <a:ea typeface="Microsoft YaHei"/>
                <a:cs typeface="微软雅黑"/>
              </a:rPr>
              <a:t>进度安排：六阶段时间轴（2026.09 — 2027.05）</a:t>
            </a:r>
          </a:p>
        </p:txBody>
      </p:sp>
      <p:sp>
        <p:nvSpPr>
          <p:cNvPr id="4" name="TextBox 4"/>
          <p:cNvSpPr/>
          <p:nvPr/>
        </p:nvSpPr>
        <p:spPr>
          <a:xfrm>
            <a:off x="1019175" y="1238250"/>
            <a:ext cx="1016317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800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08　进度安排</a:t>
            </a:r>
          </a:p>
        </p:txBody>
      </p:sp>
      <p:sp>
        <p:nvSpPr>
          <p:cNvPr id="5" name="Shape 5"/>
          <p:cNvSpPr/>
          <p:nvPr/>
        </p:nvSpPr>
        <p:spPr>
          <a:xfrm>
            <a:off x="1019175" y="6400800"/>
            <a:ext cx="10163175" cy="9525"/>
          </a:xfrm>
          <a:prstGeom prst="rect">
            <a:avLst/>
          </a:prstGeom>
          <a:noFill/>
          <a:ln w="12700">
            <a:solidFill>
              <a:srgbClr val="2639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9753600" y="6448425"/>
            <a:ext cx="14287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r"/>
            <a:r>
              <a:rPr lang="en-US" sz="1400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21 / 23</a:t>
            </a:r>
          </a:p>
        </p:txBody>
      </p:sp>
      <p:sp>
        <p:nvSpPr>
          <p:cNvPr id="7" name="TextBox 7"/>
          <p:cNvSpPr/>
          <p:nvPr/>
        </p:nvSpPr>
        <p:spPr>
          <a:xfrm>
            <a:off x="2943225" y="1866900"/>
            <a:ext cx="4000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-5" rIns="0" bIns="0" anchor="t" anchorCtr="0">
            <a:noAutofit/>
          </a:bodyPr>
          <a:lstStyle/>
          <a:p>
            <a:pPr algn="ctr"/>
            <a:r>
              <a:rPr lang="zh-CN" sz="1300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9 月</a:t>
            </a:r>
          </a:p>
        </p:txBody>
      </p:sp>
      <p:sp>
        <p:nvSpPr>
          <p:cNvPr id="8" name="Shape 8"/>
          <p:cNvSpPr/>
          <p:nvPr/>
        </p:nvSpPr>
        <p:spPr>
          <a:xfrm>
            <a:off x="3143250" y="2152650"/>
            <a:ext cx="9525" cy="3486150"/>
          </a:xfrm>
          <a:prstGeom prst="rect">
            <a:avLst/>
          </a:prstGeom>
          <a:noFill/>
          <a:ln w="12700">
            <a:solidFill>
              <a:srgbClr val="2639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3324225" y="1866900"/>
            <a:ext cx="4381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-5" rIns="0" bIns="0" anchor="t" anchorCtr="0">
            <a:noAutofit/>
          </a:bodyPr>
          <a:lstStyle/>
          <a:p>
            <a:pPr algn="ctr"/>
            <a:r>
              <a:rPr lang="zh-CN" sz="1300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10 月</a:t>
            </a:r>
          </a:p>
        </p:txBody>
      </p:sp>
      <p:sp>
        <p:nvSpPr>
          <p:cNvPr id="10" name="Shape 10"/>
          <p:cNvSpPr/>
          <p:nvPr/>
        </p:nvSpPr>
        <p:spPr>
          <a:xfrm>
            <a:off x="3543300" y="2152650"/>
            <a:ext cx="9525" cy="3486150"/>
          </a:xfrm>
          <a:prstGeom prst="rect">
            <a:avLst/>
          </a:prstGeom>
          <a:noFill/>
          <a:ln w="12700">
            <a:solidFill>
              <a:srgbClr val="2639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3724275" y="1866900"/>
            <a:ext cx="4381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-5" rIns="0" bIns="0" anchor="t" anchorCtr="0">
            <a:noAutofit/>
          </a:bodyPr>
          <a:lstStyle/>
          <a:p>
            <a:pPr algn="ctr"/>
            <a:r>
              <a:rPr lang="zh-CN" sz="1300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11 月</a:t>
            </a:r>
          </a:p>
        </p:txBody>
      </p:sp>
      <p:sp>
        <p:nvSpPr>
          <p:cNvPr id="12" name="Shape 12"/>
          <p:cNvSpPr/>
          <p:nvPr/>
        </p:nvSpPr>
        <p:spPr>
          <a:xfrm>
            <a:off x="3943350" y="2152650"/>
            <a:ext cx="9525" cy="3486150"/>
          </a:xfrm>
          <a:prstGeom prst="rect">
            <a:avLst/>
          </a:prstGeom>
          <a:noFill/>
          <a:ln w="12700">
            <a:solidFill>
              <a:srgbClr val="2639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/>
          <p:cNvSpPr/>
          <p:nvPr/>
        </p:nvSpPr>
        <p:spPr>
          <a:xfrm>
            <a:off x="4124325" y="1866900"/>
            <a:ext cx="4381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-5" rIns="0" bIns="0" anchor="t" anchorCtr="0">
            <a:noAutofit/>
          </a:bodyPr>
          <a:lstStyle/>
          <a:p>
            <a:pPr algn="ctr"/>
            <a:r>
              <a:rPr lang="zh-CN" sz="1300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12 月</a:t>
            </a:r>
          </a:p>
        </p:txBody>
      </p:sp>
      <p:sp>
        <p:nvSpPr>
          <p:cNvPr id="14" name="Shape 14"/>
          <p:cNvSpPr/>
          <p:nvPr/>
        </p:nvSpPr>
        <p:spPr>
          <a:xfrm>
            <a:off x="4343400" y="2152650"/>
            <a:ext cx="9525" cy="3486150"/>
          </a:xfrm>
          <a:prstGeom prst="rect">
            <a:avLst/>
          </a:prstGeom>
          <a:noFill/>
          <a:ln w="12700">
            <a:solidFill>
              <a:srgbClr val="2639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/>
          <p:cNvSpPr/>
          <p:nvPr/>
        </p:nvSpPr>
        <p:spPr>
          <a:xfrm>
            <a:off x="4543425" y="1866900"/>
            <a:ext cx="4000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-5" rIns="0" bIns="0" anchor="t" anchorCtr="0">
            <a:noAutofit/>
          </a:bodyPr>
          <a:lstStyle/>
          <a:p>
            <a:pPr algn="ctr"/>
            <a:r>
              <a:rPr lang="zh-CN" sz="1300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1 月</a:t>
            </a:r>
          </a:p>
        </p:txBody>
      </p:sp>
      <p:sp>
        <p:nvSpPr>
          <p:cNvPr id="16" name="Shape 16"/>
          <p:cNvSpPr/>
          <p:nvPr/>
        </p:nvSpPr>
        <p:spPr>
          <a:xfrm>
            <a:off x="4743450" y="2152650"/>
            <a:ext cx="9525" cy="3486150"/>
          </a:xfrm>
          <a:prstGeom prst="rect">
            <a:avLst/>
          </a:prstGeom>
          <a:noFill/>
          <a:ln w="12700">
            <a:solidFill>
              <a:srgbClr val="2639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/>
          <p:cNvSpPr/>
          <p:nvPr/>
        </p:nvSpPr>
        <p:spPr>
          <a:xfrm>
            <a:off x="4943475" y="1866900"/>
            <a:ext cx="4000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-5" rIns="0" bIns="0" anchor="t" anchorCtr="0">
            <a:noAutofit/>
          </a:bodyPr>
          <a:lstStyle/>
          <a:p>
            <a:pPr algn="ctr"/>
            <a:r>
              <a:rPr lang="zh-CN" sz="1300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2 月</a:t>
            </a:r>
          </a:p>
        </p:txBody>
      </p:sp>
      <p:sp>
        <p:nvSpPr>
          <p:cNvPr id="18" name="Shape 18"/>
          <p:cNvSpPr/>
          <p:nvPr/>
        </p:nvSpPr>
        <p:spPr>
          <a:xfrm>
            <a:off x="5143500" y="2152650"/>
            <a:ext cx="9525" cy="3486150"/>
          </a:xfrm>
          <a:prstGeom prst="rect">
            <a:avLst/>
          </a:prstGeom>
          <a:noFill/>
          <a:ln w="12700">
            <a:solidFill>
              <a:srgbClr val="2639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/>
          <p:cNvSpPr/>
          <p:nvPr/>
        </p:nvSpPr>
        <p:spPr>
          <a:xfrm>
            <a:off x="5343525" y="1866900"/>
            <a:ext cx="4000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-5" rIns="0" bIns="0" anchor="t" anchorCtr="0">
            <a:noAutofit/>
          </a:bodyPr>
          <a:lstStyle/>
          <a:p>
            <a:pPr algn="ctr"/>
            <a:r>
              <a:rPr lang="zh-CN" sz="1300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3 月</a:t>
            </a:r>
          </a:p>
        </p:txBody>
      </p:sp>
      <p:sp>
        <p:nvSpPr>
          <p:cNvPr id="20" name="Shape 20"/>
          <p:cNvSpPr/>
          <p:nvPr/>
        </p:nvSpPr>
        <p:spPr>
          <a:xfrm>
            <a:off x="5543550" y="2152650"/>
            <a:ext cx="9525" cy="3486150"/>
          </a:xfrm>
          <a:prstGeom prst="rect">
            <a:avLst/>
          </a:prstGeom>
          <a:noFill/>
          <a:ln w="12700">
            <a:solidFill>
              <a:srgbClr val="2639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TextBox 21"/>
          <p:cNvSpPr/>
          <p:nvPr/>
        </p:nvSpPr>
        <p:spPr>
          <a:xfrm>
            <a:off x="5743575" y="1866900"/>
            <a:ext cx="4000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-5" rIns="0" bIns="0" anchor="t" anchorCtr="0">
            <a:noAutofit/>
          </a:bodyPr>
          <a:lstStyle/>
          <a:p>
            <a:pPr algn="ctr"/>
            <a:r>
              <a:rPr lang="zh-CN" sz="1300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4 月</a:t>
            </a:r>
          </a:p>
        </p:txBody>
      </p:sp>
      <p:sp>
        <p:nvSpPr>
          <p:cNvPr id="22" name="Shape 22"/>
          <p:cNvSpPr/>
          <p:nvPr/>
        </p:nvSpPr>
        <p:spPr>
          <a:xfrm>
            <a:off x="5943600" y="2152650"/>
            <a:ext cx="9525" cy="3486150"/>
          </a:xfrm>
          <a:prstGeom prst="rect">
            <a:avLst/>
          </a:prstGeom>
          <a:noFill/>
          <a:ln w="12700">
            <a:solidFill>
              <a:srgbClr val="2639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TextBox 23"/>
          <p:cNvSpPr/>
          <p:nvPr/>
        </p:nvSpPr>
        <p:spPr>
          <a:xfrm>
            <a:off x="6143625" y="1866900"/>
            <a:ext cx="4000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-5" rIns="0" bIns="0" anchor="t" anchorCtr="0">
            <a:noAutofit/>
          </a:bodyPr>
          <a:lstStyle/>
          <a:p>
            <a:pPr algn="ctr"/>
            <a:r>
              <a:rPr lang="zh-CN" sz="1300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5 月</a:t>
            </a:r>
          </a:p>
        </p:txBody>
      </p:sp>
      <p:sp>
        <p:nvSpPr>
          <p:cNvPr id="24" name="Shape 24"/>
          <p:cNvSpPr/>
          <p:nvPr/>
        </p:nvSpPr>
        <p:spPr>
          <a:xfrm>
            <a:off x="6343650" y="2152650"/>
            <a:ext cx="9525" cy="3486150"/>
          </a:xfrm>
          <a:prstGeom prst="rect">
            <a:avLst/>
          </a:prstGeom>
          <a:noFill/>
          <a:ln w="12700">
            <a:solidFill>
              <a:srgbClr val="2639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Shape 25"/>
          <p:cNvSpPr/>
          <p:nvPr/>
        </p:nvSpPr>
        <p:spPr>
          <a:xfrm>
            <a:off x="6543675" y="2152650"/>
            <a:ext cx="9525" cy="3486150"/>
          </a:xfrm>
          <a:prstGeom prst="rect">
            <a:avLst/>
          </a:prstGeom>
          <a:noFill/>
          <a:ln w="12700">
            <a:solidFill>
              <a:srgbClr val="2639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6" name="TextBox 26"/>
          <p:cNvSpPr/>
          <p:nvPr/>
        </p:nvSpPr>
        <p:spPr>
          <a:xfrm>
            <a:off x="1019175" y="2209800"/>
            <a:ext cx="18097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zh-CN" sz="14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文献调研 · 已完成</a:t>
            </a:r>
          </a:p>
        </p:txBody>
      </p:sp>
      <p:sp>
        <p:nvSpPr>
          <p:cNvPr id="27" name="Shape 27"/>
          <p:cNvSpPr/>
          <p:nvPr/>
        </p:nvSpPr>
        <p:spPr>
          <a:xfrm>
            <a:off x="3143250" y="2419350"/>
            <a:ext cx="400050" cy="1905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8" name="TextBox 28"/>
          <p:cNvSpPr/>
          <p:nvPr/>
        </p:nvSpPr>
        <p:spPr>
          <a:xfrm>
            <a:off x="3619500" y="2419350"/>
            <a:ext cx="2667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8CA0BC"/>
                </a:solidFill>
                <a:latin typeface="Microsoft YaHei"/>
                <a:ea typeface="Microsoft YaHei"/>
                <a:cs typeface="Microsoft YaHei"/>
              </a:rPr>
              <a:t>09.07—09.27 · 文献综述笔记</a:t>
            </a:r>
          </a:p>
        </p:txBody>
      </p:sp>
      <p:sp>
        <p:nvSpPr>
          <p:cNvPr id="29" name="TextBox 29"/>
          <p:cNvSpPr/>
          <p:nvPr/>
        </p:nvSpPr>
        <p:spPr>
          <a:xfrm>
            <a:off x="1019175" y="2743200"/>
            <a:ext cx="18097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zh-CN" sz="14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需求分析</a:t>
            </a:r>
          </a:p>
        </p:txBody>
      </p:sp>
      <p:sp>
        <p:nvSpPr>
          <p:cNvPr id="30" name="Shape 30"/>
          <p:cNvSpPr/>
          <p:nvPr/>
        </p:nvSpPr>
        <p:spPr>
          <a:xfrm>
            <a:off x="3533775" y="2952750"/>
            <a:ext cx="419100" cy="19050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1" name="TextBox 31"/>
          <p:cNvSpPr/>
          <p:nvPr/>
        </p:nvSpPr>
        <p:spPr>
          <a:xfrm>
            <a:off x="4029075" y="2952750"/>
            <a:ext cx="28575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8CA0BC"/>
                </a:solidFill>
                <a:latin typeface="Microsoft YaHei"/>
                <a:ea typeface="Microsoft YaHei"/>
                <a:cs typeface="Microsoft YaHei"/>
              </a:rPr>
              <a:t>09.28—10.18 · 需求说明、接口规范</a:t>
            </a:r>
          </a:p>
        </p:txBody>
      </p:sp>
      <p:sp>
        <p:nvSpPr>
          <p:cNvPr id="32" name="TextBox 32"/>
          <p:cNvSpPr/>
          <p:nvPr/>
        </p:nvSpPr>
        <p:spPr>
          <a:xfrm>
            <a:off x="1019175" y="3276600"/>
            <a:ext cx="18097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zh-CN" sz="14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系统设计</a:t>
            </a:r>
          </a:p>
        </p:txBody>
      </p:sp>
      <p:sp>
        <p:nvSpPr>
          <p:cNvPr id="33" name="Shape 33"/>
          <p:cNvSpPr/>
          <p:nvPr/>
        </p:nvSpPr>
        <p:spPr>
          <a:xfrm>
            <a:off x="3962400" y="3486150"/>
            <a:ext cx="485775" cy="19050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4" name="TextBox 34"/>
          <p:cNvSpPr/>
          <p:nvPr/>
        </p:nvSpPr>
        <p:spPr>
          <a:xfrm>
            <a:off x="4524375" y="3486150"/>
            <a:ext cx="28575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8CA0BC"/>
                </a:solidFill>
                <a:latin typeface="Microsoft YaHei"/>
                <a:ea typeface="Microsoft YaHei"/>
                <a:cs typeface="Microsoft YaHei"/>
              </a:rPr>
              <a:t>10.19—11.15 · 设计文档、E-R 图</a:t>
            </a:r>
          </a:p>
        </p:txBody>
      </p:sp>
      <p:sp>
        <p:nvSpPr>
          <p:cNvPr id="35" name="TextBox 35"/>
          <p:cNvSpPr/>
          <p:nvPr/>
        </p:nvSpPr>
        <p:spPr>
          <a:xfrm>
            <a:off x="1019175" y="3810000"/>
            <a:ext cx="18097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zh-CN" sz="14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编码实现</a:t>
            </a:r>
          </a:p>
        </p:txBody>
      </p:sp>
      <p:sp>
        <p:nvSpPr>
          <p:cNvPr id="36" name="Shape 36"/>
          <p:cNvSpPr/>
          <p:nvPr/>
        </p:nvSpPr>
        <p:spPr>
          <a:xfrm>
            <a:off x="4162425" y="4019550"/>
            <a:ext cx="1504950" cy="19050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7" name="TextBox 37"/>
          <p:cNvSpPr/>
          <p:nvPr/>
        </p:nvSpPr>
        <p:spPr>
          <a:xfrm>
            <a:off x="5743575" y="401955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8CA0BC"/>
                </a:solidFill>
                <a:latin typeface="Microsoft YaHei"/>
                <a:ea typeface="Microsoft YaHei"/>
                <a:cs typeface="Microsoft YaHei"/>
              </a:rPr>
              <a:t>11.16—03.07 · 后端与 AI 模块、双端联调</a:t>
            </a:r>
          </a:p>
        </p:txBody>
      </p:sp>
      <p:sp>
        <p:nvSpPr>
          <p:cNvPr id="38" name="TextBox 38"/>
          <p:cNvSpPr/>
          <p:nvPr/>
        </p:nvSpPr>
        <p:spPr>
          <a:xfrm>
            <a:off x="1019175" y="4343400"/>
            <a:ext cx="18097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zh-CN" sz="14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测试验证</a:t>
            </a:r>
          </a:p>
        </p:txBody>
      </p:sp>
      <p:sp>
        <p:nvSpPr>
          <p:cNvPr id="39" name="Shape 39"/>
          <p:cNvSpPr/>
          <p:nvPr/>
        </p:nvSpPr>
        <p:spPr>
          <a:xfrm>
            <a:off x="6143625" y="4552950"/>
            <a:ext cx="619125" cy="19050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0" name="TextBox 40"/>
          <p:cNvSpPr/>
          <p:nvPr/>
        </p:nvSpPr>
        <p:spPr>
          <a:xfrm>
            <a:off x="6838950" y="4552950"/>
            <a:ext cx="32385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8CA0BC"/>
                </a:solidFill>
                <a:latin typeface="Microsoft YaHei"/>
                <a:ea typeface="Microsoft YaHei"/>
                <a:cs typeface="Microsoft YaHei"/>
              </a:rPr>
              <a:t>03.08—04.04 · 接口回归与 V1—V4 实验</a:t>
            </a:r>
          </a:p>
        </p:txBody>
      </p:sp>
      <p:sp>
        <p:nvSpPr>
          <p:cNvPr id="41" name="TextBox 41"/>
          <p:cNvSpPr/>
          <p:nvPr/>
        </p:nvSpPr>
        <p:spPr>
          <a:xfrm>
            <a:off x="1019175" y="4876800"/>
            <a:ext cx="18097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zh-CN" sz="14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论文与答辩</a:t>
            </a:r>
          </a:p>
        </p:txBody>
      </p:sp>
      <p:sp>
        <p:nvSpPr>
          <p:cNvPr id="42" name="Shape 42"/>
          <p:cNvSpPr/>
          <p:nvPr/>
        </p:nvSpPr>
        <p:spPr>
          <a:xfrm>
            <a:off x="6762750" y="5086350"/>
            <a:ext cx="800100" cy="19050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3" name="TextBox 43"/>
          <p:cNvSpPr/>
          <p:nvPr/>
        </p:nvSpPr>
        <p:spPr>
          <a:xfrm>
            <a:off x="7639050" y="5086350"/>
            <a:ext cx="28575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8CA0BC"/>
                </a:solidFill>
                <a:latin typeface="Microsoft YaHei"/>
                <a:ea typeface="Microsoft YaHei"/>
                <a:cs typeface="Microsoft YaHei"/>
              </a:rPr>
              <a:t>04.05—05.30 · 毕业论文、答辩材料</a:t>
            </a:r>
          </a:p>
        </p:txBody>
      </p:sp>
      <p:sp>
        <p:nvSpPr>
          <p:cNvPr id="44" name="Shape 44"/>
          <p:cNvSpPr/>
          <p:nvPr/>
        </p:nvSpPr>
        <p:spPr>
          <a:xfrm>
            <a:off x="1019175" y="5476875"/>
            <a:ext cx="10163175" cy="762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5" name="TextBox 45"/>
          <p:cNvSpPr/>
          <p:nvPr/>
        </p:nvSpPr>
        <p:spPr>
          <a:xfrm>
            <a:off x="1219200" y="5572125"/>
            <a:ext cx="9753600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>
              <a:lnSpc>
                <a:spcPts val="1540"/>
              </a:lnSpc>
            </a:pPr>
            <a:r>
              <a:rPr lang="zh-CN" sz="14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注：文献调研已完成（橙色）；起止按日历自然周给出；编码阶段跨越寒假，春节期间进度顺延；</a:t>
            </a:r>
          </a:p>
          <a:p>
            <a:pPr algn="l">
              <a:lnSpc>
                <a:spcPts val="1540"/>
              </a:lnSpc>
            </a:pPr>
            <a:r>
              <a:rPr lang="zh-CN" sz="14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编码与测试阶段预留充分缓冲，主要风险均有 V1—V4 验证方案应对。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fast" advClick="1" p14:dur="400">
        <p:fade/>
      </p:transition>
    </mc:Choice>
    <mc:Fallback>
      <p:transition spd="fast" advClick="1">
        <p:fade/>
      </p:transition>
    </mc:Fallback>
  </mc:AlternateContent>
</p:sld>
</file>

<file path=ppt/slides/slide22.xml><?xml version="1.0" encoding="utf-8"?>
<p:sld xmlns:a="http://schemas.openxmlformats.org/drawingml/2006/main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/>
          <p:nvPr/>
        </p:nvSpPr>
        <p:spPr>
          <a:xfrm>
            <a:off x="1019175" y="495300"/>
            <a:ext cx="10163175" cy="428625"/>
          </a:xfrm>
          <a:prstGeom prst="rect">
            <a:avLst/>
          </a:prstGeom>
          <a:noFill/>
          <a:ln>
            <a:noFill/>
          </a:ln>
        </p:spPr>
        <p:txBody>
          <a:bodyPr wrap="none" lIns="0" tIns="-5" rIns="0" bIns="0" anchor="t" anchorCtr="0">
            <a:noAutofit/>
          </a:bodyPr>
          <a:lstStyle/>
          <a:p>
            <a:pPr algn="l"/>
            <a:r>
              <a:rPr lang="zh-CN" sz="2800" b="1" dirty="0">
                <a:solidFill>
                  <a:srgbClr val="6FB1FF"/>
                </a:solidFill>
                <a:latin typeface="微软雅黑"/>
                <a:ea typeface="Microsoft YaHei"/>
                <a:cs typeface="微软雅黑"/>
              </a:rPr>
              <a:t>三项预期成果，六项创新点（含当前实现状态）</a:t>
            </a:r>
          </a:p>
        </p:txBody>
      </p:sp>
      <p:sp>
        <p:nvSpPr>
          <p:cNvPr id="4" name="TextBox 4"/>
          <p:cNvSpPr/>
          <p:nvPr/>
        </p:nvSpPr>
        <p:spPr>
          <a:xfrm>
            <a:off x="1019175" y="1238250"/>
            <a:ext cx="1016317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800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09　预期成果与创新点</a:t>
            </a:r>
          </a:p>
        </p:txBody>
      </p:sp>
      <p:sp>
        <p:nvSpPr>
          <p:cNvPr id="5" name="Shape 5"/>
          <p:cNvSpPr/>
          <p:nvPr/>
        </p:nvSpPr>
        <p:spPr>
          <a:xfrm>
            <a:off x="1019175" y="6400800"/>
            <a:ext cx="10163175" cy="9525"/>
          </a:xfrm>
          <a:prstGeom prst="rect">
            <a:avLst/>
          </a:prstGeom>
          <a:noFill/>
          <a:ln w="12700">
            <a:solidFill>
              <a:srgbClr val="2639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9753600" y="6448425"/>
            <a:ext cx="14287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r"/>
            <a:r>
              <a:rPr lang="en-US" sz="1400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22 / 23</a:t>
            </a:r>
          </a:p>
        </p:txBody>
      </p:sp>
      <p:sp>
        <p:nvSpPr>
          <p:cNvPr id="7" name="Shape 7"/>
          <p:cNvSpPr/>
          <p:nvPr/>
        </p:nvSpPr>
        <p:spPr>
          <a:xfrm>
            <a:off x="1019175" y="1828800"/>
            <a:ext cx="5200650" cy="1666875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1238250" y="1952625"/>
            <a:ext cx="4762500" cy="142875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>
              <a:lnSpc>
                <a:spcPts val="1530"/>
              </a:lnSpc>
            </a:pPr>
            <a:r>
              <a:rPr lang="zh-CN" sz="1700" b="1" dirty="0">
                <a:solidFill>
                  <a:srgbClr val="6FB1FF"/>
                </a:solidFill>
                <a:latin typeface="Microsoft YaHei"/>
                <a:ea typeface="Microsoft YaHei"/>
                <a:cs typeface="Microsoft YaHei"/>
              </a:rPr>
              <a:t>预期成果</a:t>
            </a:r>
          </a:p>
          <a:p>
            <a:pPr algn="l">
              <a:lnSpc>
                <a:spcPts val="1530"/>
              </a:lnSpc>
            </a:pPr>
            <a:r>
              <a:rPr lang="zh-CN" sz="15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一套可运行的多端智能记账系统</a:t>
            </a:r>
          </a:p>
          <a:p>
            <a:pPr algn="l">
              <a:lnSpc>
                <a:spcPts val="1530"/>
              </a:lnSpc>
              <a:spcBef>
                <a:spcPts val="345"/>
              </a:spcBef>
            </a:pPr>
            <a:r>
              <a:rPr lang="zh-CN" sz="15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完整后端服务与数据库、接口规范文档</a:t>
            </a:r>
          </a:p>
          <a:p>
            <a:pPr algn="l">
              <a:lnSpc>
                <a:spcPts val="1530"/>
              </a:lnSpc>
              <a:spcBef>
                <a:spcPts val="345"/>
              </a:spcBef>
            </a:pPr>
            <a:r>
              <a:rPr lang="zh-CN" sz="15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一篇符合本科毕设要求的研究论文</a:t>
            </a:r>
          </a:p>
        </p:txBody>
      </p:sp>
      <p:sp>
        <p:nvSpPr>
          <p:cNvPr id="9" name="Shape 9"/>
          <p:cNvSpPr/>
          <p:nvPr/>
        </p:nvSpPr>
        <p:spPr>
          <a:xfrm>
            <a:off x="1019175" y="3667125"/>
            <a:ext cx="5200650" cy="1143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1238250" y="3790950"/>
            <a:ext cx="4762500" cy="904875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>
              <a:lnSpc>
                <a:spcPts val="1530"/>
              </a:lnSpc>
            </a:pPr>
            <a:r>
              <a:rPr lang="zh-CN" sz="1700" b="1" dirty="0">
                <a:solidFill>
                  <a:srgbClr val="6FB1FF"/>
                </a:solidFill>
                <a:latin typeface="Microsoft YaHei"/>
                <a:ea typeface="Microsoft YaHei"/>
                <a:cs typeface="Microsoft YaHei"/>
              </a:rPr>
              <a:t>论文阐述重点</a:t>
            </a:r>
          </a:p>
          <a:p>
            <a:pPr algn="l">
              <a:lnSpc>
                <a:spcPts val="1530"/>
              </a:lnSpc>
            </a:pPr>
            <a:r>
              <a:rPr lang="zh-CN" sz="15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架构整合方法、输出可靠性机制与降级设计</a:t>
            </a:r>
          </a:p>
        </p:txBody>
      </p:sp>
      <p:sp>
        <p:nvSpPr>
          <p:cNvPr id="11" name="TextBox 11"/>
          <p:cNvSpPr/>
          <p:nvPr/>
        </p:nvSpPr>
        <p:spPr>
          <a:xfrm>
            <a:off x="6429375" y="1828800"/>
            <a:ext cx="44958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-5" rIns="0" bIns="0" anchor="t" anchorCtr="0">
            <a:noAutofit/>
          </a:bodyPr>
          <a:lstStyle/>
          <a:p>
            <a:pPr algn="l"/>
            <a:r>
              <a:rPr lang="zh-CN" sz="1900" b="1" dirty="0">
                <a:solidFill>
                  <a:srgbClr val="6FB1FF"/>
                </a:solidFill>
                <a:latin typeface="Microsoft YaHei"/>
                <a:ea typeface="Microsoft YaHei"/>
                <a:cs typeface="Microsoft YaHei"/>
              </a:rPr>
              <a:t>创新点与当前状态</a:t>
            </a:r>
          </a:p>
        </p:txBody>
      </p:sp>
      <p:sp>
        <p:nvSpPr>
          <p:cNvPr id="12" name="Shape 12"/>
          <p:cNvSpPr/>
          <p:nvPr/>
        </p:nvSpPr>
        <p:spPr>
          <a:xfrm>
            <a:off x="6429375" y="2176272"/>
            <a:ext cx="4743450" cy="530352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/>
          <p:cNvSpPr/>
          <p:nvPr/>
        </p:nvSpPr>
        <p:spPr>
          <a:xfrm>
            <a:off x="6619875" y="2231136"/>
            <a:ext cx="43815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zh-CN" sz="14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 xml:space="preserve">① 检索增强可降级：向量失效切关键词　</a:t>
            </a:r>
            <a:r>
              <a:rPr lang="zh-CN" sz="1200" b="1" dirty="0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已实现</a:t>
            </a:r>
          </a:p>
        </p:txBody>
      </p:sp>
      <p:sp>
        <p:nvSpPr>
          <p:cNvPr id="14" name="Shape 14"/>
          <p:cNvSpPr/>
          <p:nvPr/>
        </p:nvSpPr>
        <p:spPr>
          <a:xfrm>
            <a:off x="6429375" y="2752344"/>
            <a:ext cx="4743450" cy="530352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/>
          <p:cNvSpPr/>
          <p:nvPr/>
        </p:nvSpPr>
        <p:spPr>
          <a:xfrm>
            <a:off x="6619875" y="2807208"/>
            <a:ext cx="43815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zh-CN" sz="14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 xml:space="preserve">② 结构化输出校验：失败不落库　</a:t>
            </a:r>
            <a:r>
              <a:rPr lang="zh-CN" sz="1200" b="1" dirty="0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已实现</a:t>
            </a:r>
          </a:p>
        </p:txBody>
      </p:sp>
      <p:sp>
        <p:nvSpPr>
          <p:cNvPr id="16" name="Shape 16"/>
          <p:cNvSpPr/>
          <p:nvPr/>
        </p:nvSpPr>
        <p:spPr>
          <a:xfrm>
            <a:off x="6429375" y="3328416"/>
            <a:ext cx="4743450" cy="530352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/>
          <p:cNvSpPr/>
          <p:nvPr/>
        </p:nvSpPr>
        <p:spPr>
          <a:xfrm>
            <a:off x="6619875" y="3383280"/>
            <a:ext cx="43815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zh-CN" sz="14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 xml:space="preserve">③ 幂等记账：同消息 ID 去重，草稿续写　</a:t>
            </a:r>
            <a:r>
              <a:rPr lang="zh-CN" sz="1200" b="1" dirty="0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已实现</a:t>
            </a:r>
          </a:p>
        </p:txBody>
      </p:sp>
      <p:sp>
        <p:nvSpPr>
          <p:cNvPr id="18" name="Shape 18"/>
          <p:cNvSpPr/>
          <p:nvPr/>
        </p:nvSpPr>
        <p:spPr>
          <a:xfrm>
            <a:off x="6429375" y="3904487"/>
            <a:ext cx="4743450" cy="530352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/>
          <p:cNvSpPr/>
          <p:nvPr/>
        </p:nvSpPr>
        <p:spPr>
          <a:xfrm>
            <a:off x="6619875" y="3959351"/>
            <a:ext cx="43815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zh-CN" sz="14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 xml:space="preserve">④ 契约冻结下异构整合：客户端零改动　</a:t>
            </a:r>
            <a:r>
              <a:rPr lang="zh-CN" sz="1200" b="1" dirty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验证中</a:t>
            </a:r>
          </a:p>
        </p:txBody>
      </p:sp>
      <p:sp>
        <p:nvSpPr>
          <p:cNvPr id="20" name="Shape 20"/>
          <p:cNvSpPr/>
          <p:nvPr/>
        </p:nvSpPr>
        <p:spPr>
          <a:xfrm>
            <a:off x="6429375" y="4480560"/>
            <a:ext cx="4743450" cy="530352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TextBox 21"/>
          <p:cNvSpPr/>
          <p:nvPr/>
        </p:nvSpPr>
        <p:spPr>
          <a:xfrm>
            <a:off x="6619875" y="4535424"/>
            <a:ext cx="43815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zh-CN" sz="14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 xml:space="preserve">⑤ 数据驱动预算：50/30/20 为参考框架　</a:t>
            </a:r>
            <a:r>
              <a:rPr lang="zh-CN" sz="1200" b="1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设计中</a:t>
            </a:r>
          </a:p>
        </p:txBody>
      </p:sp>
      <p:sp>
        <p:nvSpPr>
          <p:cNvPr id="22" name="Shape 22"/>
          <p:cNvSpPr/>
          <p:nvPr/>
        </p:nvSpPr>
        <p:spPr>
          <a:xfrm>
            <a:off x="1019175" y="5619750"/>
            <a:ext cx="10163175" cy="571500"/>
          </a:xfrm>
          <a:prstGeom prst="roundRect">
            <a:avLst/>
          </a:prstGeom>
          <a:solidFill>
            <a:srgbClr val="0D1828"/>
          </a:solidFill>
          <a:ln>
            <a:noFill/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TextBox 23"/>
          <p:cNvSpPr/>
          <p:nvPr/>
        </p:nvSpPr>
        <p:spPr>
          <a:xfrm>
            <a:off x="1219200" y="5734050"/>
            <a:ext cx="97536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zh-CN" sz="14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 xml:space="preserve">三项硬口径：非法落库数为 </a:t>
            </a:r>
            <a:r>
              <a:rPr lang="zh-CN" sz="1400" b="1" dirty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零</a:t>
            </a:r>
            <a:r>
              <a:rPr lang="zh-CN" sz="14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 xml:space="preserve">　降级态非空返回率 </a:t>
            </a:r>
            <a:r>
              <a:rPr lang="en-US" sz="1400" b="1" dirty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100%</a:t>
            </a:r>
            <a:r>
              <a:rPr lang="zh-CN" sz="14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 xml:space="preserve">　并发去重率 </a:t>
            </a:r>
            <a:r>
              <a:rPr lang="en-US" sz="1400" b="1" dirty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97" name="Shape 97"/>
          <p:cNvSpPr/>
          <p:nvPr/>
        </p:nvSpPr>
        <p:spPr>
          <a:xfrm>
            <a:off x="6428232" y="5056632"/>
            <a:ext cx="4745736" cy="530352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8" name="TextBox 98"/>
          <p:cNvSpPr/>
          <p:nvPr/>
        </p:nvSpPr>
        <p:spPr>
          <a:xfrm>
            <a:off x="6620256" y="5111496"/>
            <a:ext cx="4379976" cy="420624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zh-CN" sz="14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 xml:space="preserve">⑥ 会员配额与支付安全：闸门限流 + 回调验签　</a:t>
            </a:r>
            <a:r>
              <a:rPr lang="zh-CN" sz="1200" b="1" dirty="0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已实现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fast" advClick="1" p14:dur="400">
        <p:fade/>
      </p:transition>
    </mc:Choice>
    <mc:Fallback>
      <p:transition spd="fast" advClick="1">
        <p:fade/>
      </p:transition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/>
          <p:nvPr/>
        </p:nvSpPr>
        <p:spPr>
          <a:xfrm>
            <a:off x="1019175" y="1047750"/>
            <a:ext cx="10163175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ctr"/>
            <a:r>
              <a:rPr lang="zh-CN" sz="2000" dirty="0">
                <a:solidFill>
                  <a:srgbClr val="B9CBF2"/>
                </a:solidFill>
                <a:latin typeface="Microsoft YaHei"/>
                <a:ea typeface="Microsoft YaHei"/>
                <a:cs typeface="Microsoft YaHei"/>
              </a:rPr>
              <a:t>汇报完毕 · 敬请各位老师批评指正</a:t>
            </a:r>
          </a:p>
        </p:txBody>
      </p:sp>
      <p:sp>
        <p:nvSpPr>
          <p:cNvPr id="4" name="TextBox 4"/>
          <p:cNvSpPr/>
          <p:nvPr/>
        </p:nvSpPr>
        <p:spPr>
          <a:xfrm>
            <a:off x="1019175" y="1571625"/>
            <a:ext cx="10163175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-5" rIns="0" bIns="0" anchor="t" anchorCtr="0">
            <a:noAutofit/>
          </a:bodyPr>
          <a:lstStyle/>
          <a:p>
            <a:pPr algn="ctr"/>
            <a:r>
              <a:rPr lang="zh-CN" sz="3400" b="1" dirty="0">
                <a:solidFill>
                  <a:srgbClr val="F4F8FF"/>
                </a:solidFill>
                <a:latin typeface="微软雅黑"/>
                <a:ea typeface="Microsoft YaHei"/>
                <a:cs typeface="微软雅黑"/>
              </a:rPr>
              <a:t>以记账系统为载体，检验两项工程方法</a:t>
            </a:r>
          </a:p>
        </p:txBody>
      </p:sp>
      <p:sp>
        <p:nvSpPr>
          <p:cNvPr id="5" name="TextBox 5"/>
          <p:cNvSpPr/>
          <p:nvPr/>
        </p:nvSpPr>
        <p:spPr>
          <a:xfrm>
            <a:off x="1019175" y="2238375"/>
            <a:ext cx="1016317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-5" rIns="0" bIns="0" anchor="t" anchorCtr="0">
            <a:noAutofit/>
          </a:bodyPr>
          <a:lstStyle/>
          <a:p>
            <a:pPr algn="ctr"/>
            <a:r>
              <a:rPr lang="zh-CN" sz="1600" dirty="0">
                <a:solidFill>
                  <a:srgbClr val="CBD9F2"/>
                </a:solidFill>
                <a:latin typeface="Microsoft YaHei"/>
                <a:ea typeface="Microsoft YaHei"/>
                <a:cs typeface="Microsoft YaHei"/>
              </a:rPr>
              <a:t>异构多后端的单进程全异步整合　·　LLM 结构化输出的校验与降级</a:t>
            </a:r>
          </a:p>
        </p:txBody>
      </p:sp>
      <p:sp>
        <p:nvSpPr>
          <p:cNvPr id="6" name="Shape 6"/>
          <p:cNvSpPr/>
          <p:nvPr/>
        </p:nvSpPr>
        <p:spPr>
          <a:xfrm>
            <a:off x="1019175" y="2714625"/>
            <a:ext cx="10163175" cy="9525"/>
          </a:xfrm>
          <a:prstGeom prst="rect">
            <a:avLst/>
          </a:prstGeom>
          <a:noFill/>
          <a:ln w="12700">
            <a:solidFill>
              <a:srgbClr val="3E5CA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/>
          <p:cNvSpPr/>
          <p:nvPr/>
        </p:nvSpPr>
        <p:spPr>
          <a:xfrm>
            <a:off x="1019175" y="2952750"/>
            <a:ext cx="4953000" cy="1809750"/>
          </a:xfrm>
          <a:prstGeom prst="roundRect">
            <a:avLst/>
          </a:prstGeom>
          <a:solidFill>
            <a:srgbClr val="1A2F5E"/>
          </a:solidFill>
          <a:ln w="12700">
            <a:solidFill>
              <a:srgbClr val="3E5CA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1257300" y="3143250"/>
            <a:ext cx="4476750" cy="142875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>
              <a:lnSpc>
                <a:spcPts val="1530"/>
              </a:lnSpc>
            </a:pPr>
            <a:r>
              <a:rPr lang="zh-CN" sz="1700" b="1" dirty="0">
                <a:solidFill>
                  <a:srgbClr val="DBE6FA"/>
                </a:solidFill>
                <a:latin typeface="Microsoft YaHei"/>
                <a:ea typeface="Microsoft YaHei"/>
                <a:cs typeface="Microsoft YaHei"/>
              </a:rPr>
              <a:t>三项验收口径贯穿全文</a:t>
            </a:r>
          </a:p>
          <a:p>
            <a:pPr algn="l">
              <a:lnSpc>
                <a:spcPts val="1530"/>
              </a:lnSpc>
            </a:pPr>
            <a:r>
              <a:rPr lang="zh-CN" sz="1500" b="1" dirty="0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rPr>
              <a:t xml:space="preserve">① 非法结构化输出落库数为 </a:t>
            </a:r>
            <a:r>
              <a:rPr lang="zh-CN" sz="1500" b="1" dirty="0">
                <a:solidFill>
                  <a:srgbClr val="F5B93F"/>
                </a:solidFill>
                <a:latin typeface="Microsoft YaHei"/>
                <a:ea typeface="Microsoft YaHei"/>
                <a:cs typeface="Microsoft YaHei"/>
              </a:rPr>
              <a:t>零</a:t>
            </a:r>
          </a:p>
          <a:p>
            <a:pPr algn="l">
              <a:lnSpc>
                <a:spcPts val="1530"/>
              </a:lnSpc>
              <a:spcBef>
                <a:spcPts val="420"/>
              </a:spcBef>
            </a:pPr>
            <a:r>
              <a:rPr lang="zh-CN" sz="1500" b="1" dirty="0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rPr>
              <a:t xml:space="preserve">② 向量服务降级态非空返回率 </a:t>
            </a:r>
            <a:r>
              <a:rPr lang="en-US" sz="1500" b="1" dirty="0">
                <a:solidFill>
                  <a:srgbClr val="F5B93F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  <a:p>
            <a:pPr algn="l">
              <a:lnSpc>
                <a:spcPts val="1530"/>
              </a:lnSpc>
              <a:spcBef>
                <a:spcPts val="420"/>
              </a:spcBef>
            </a:pPr>
            <a:r>
              <a:rPr lang="zh-CN" sz="1500" b="1" dirty="0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rPr>
              <a:t xml:space="preserve">③ 并发重复记账去重后仅产生 </a:t>
            </a:r>
            <a:r>
              <a:rPr lang="zh-CN" sz="1500" b="1" dirty="0">
                <a:solidFill>
                  <a:srgbClr val="F5B93F"/>
                </a:solidFill>
                <a:latin typeface="Microsoft YaHei"/>
                <a:ea typeface="Microsoft YaHei"/>
                <a:cs typeface="Microsoft YaHei"/>
              </a:rPr>
              <a:t>1 条记录</a:t>
            </a:r>
          </a:p>
        </p:txBody>
      </p:sp>
      <p:sp>
        <p:nvSpPr>
          <p:cNvPr id="9" name="Shape 9"/>
          <p:cNvSpPr/>
          <p:nvPr/>
        </p:nvSpPr>
        <p:spPr>
          <a:xfrm>
            <a:off x="6219825" y="2952750"/>
            <a:ext cx="4953000" cy="1809750"/>
          </a:xfrm>
          <a:prstGeom prst="roundRect">
            <a:avLst/>
          </a:prstGeom>
          <a:solidFill>
            <a:srgbClr val="1A2F5E"/>
          </a:solidFill>
          <a:ln w="12700">
            <a:solidFill>
              <a:srgbClr val="3E5CA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6457950" y="3143250"/>
            <a:ext cx="4476750" cy="144780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>
              <a:lnSpc>
                <a:spcPts val="1530"/>
              </a:lnSpc>
            </a:pPr>
            <a:r>
              <a:rPr lang="zh-CN" sz="1700" b="1" dirty="0">
                <a:solidFill>
                  <a:srgbClr val="DBE6FA"/>
                </a:solidFill>
                <a:latin typeface="Microsoft YaHei"/>
                <a:ea typeface="Microsoft YaHei"/>
                <a:cs typeface="Microsoft YaHei"/>
              </a:rPr>
              <a:t>诚实的研究边界</a:t>
            </a:r>
          </a:p>
          <a:p>
            <a:pPr algn="l">
              <a:lnSpc>
                <a:spcPts val="1530"/>
              </a:lnSpc>
            </a:pPr>
            <a:r>
              <a:rPr lang="zh-CN" sz="1500" b="1" dirty="0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rPr>
              <a:t>V4 结论限于合成画像与小规模盲评，</a:t>
            </a:r>
          </a:p>
          <a:p>
            <a:pPr algn="l">
              <a:lnSpc>
                <a:spcPts val="1530"/>
              </a:lnSpc>
              <a:spcBef>
                <a:spcPts val="420"/>
              </a:spcBef>
            </a:pPr>
            <a:r>
              <a:rPr lang="zh-CN" sz="1500" b="1" dirty="0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rPr>
              <a:t>属方向性证据，不外推真实用户总体；</a:t>
            </a:r>
          </a:p>
          <a:p>
            <a:pPr algn="l">
              <a:lnSpc>
                <a:spcPts val="1530"/>
              </a:lnSpc>
              <a:spcBef>
                <a:spcPts val="420"/>
              </a:spcBef>
            </a:pPr>
            <a:r>
              <a:rPr lang="zh-CN" sz="1500" b="1" dirty="0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rPr>
              <a:t>参考文献共 26 篇（含 [15] 幻觉综述、</a:t>
            </a:r>
          </a:p>
          <a:p>
            <a:pPr algn="l">
              <a:lnSpc>
                <a:spcPts val="1530"/>
              </a:lnSpc>
              <a:spcBef>
                <a:spcPts val="420"/>
              </a:spcBef>
            </a:pPr>
            <a:r>
              <a:rPr lang="zh-CN" sz="1500" b="1" dirty="0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rPr>
              <a:t>[16] RAG、[18] RAG 综述），详见开题报告</a:t>
            </a:r>
          </a:p>
        </p:txBody>
      </p:sp>
      <p:sp>
        <p:nvSpPr>
          <p:cNvPr id="11" name="Shape 11"/>
          <p:cNvSpPr/>
          <p:nvPr/>
        </p:nvSpPr>
        <p:spPr>
          <a:xfrm>
            <a:off x="1019175" y="5334000"/>
            <a:ext cx="10163175" cy="9525"/>
          </a:xfrm>
          <a:prstGeom prst="rect">
            <a:avLst/>
          </a:prstGeom>
          <a:noFill/>
          <a:ln w="12700">
            <a:solidFill>
              <a:srgbClr val="3E5CA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/>
          <p:cNvSpPr/>
          <p:nvPr/>
        </p:nvSpPr>
        <p:spPr>
          <a:xfrm>
            <a:off x="1019175" y="5524500"/>
            <a:ext cx="1016317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-5" rIns="0" bIns="0" anchor="t" anchorCtr="0">
            <a:noAutofit/>
          </a:bodyPr>
          <a:lstStyle/>
          <a:p>
            <a:pPr algn="ctr"/>
            <a:r>
              <a:rPr lang="zh-CN" sz="1600" dirty="0">
                <a:solidFill>
                  <a:srgbClr val="DBE6FA"/>
                </a:solidFill>
                <a:latin typeface="Microsoft YaHei"/>
                <a:ea typeface="Microsoft YaHei"/>
                <a:cs typeface="Microsoft YaHei"/>
              </a:rPr>
              <a:t>贺　超　·　学号 20250784146　·　指导教师 谢志洪　·　2026 年 9 月</a:t>
            </a:r>
          </a:p>
        </p:txBody>
      </p:sp>
    </p:spTree>
  </p:cSld>
  <p:clrMapOvr>
    <a:masterClrMapping/>
  </p:clrMapOvr>
  <mc:AlternateContent xmlns:mc="http://schemas.openxmlformats.org/markup-compatibility/2006">
    <mc:Choice Requires="p14">
      <p:transition spd="fast" advClick="1" p14:dur="400">
        <p:fade/>
      </p:transition>
    </mc:Choice>
    <mc:Fallback>
      <p:transition spd="fast" advClick="1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{"Label":"1","ContentProducer":"001191110102MACQD9K64010000","ProduceID":"7689882874157272270","ReservedCode1":"","ContentPropagator":"","PropagateID":"","ReservedCode2":""}</vt:lpwstr>
  </property>
</Properties>
</file>